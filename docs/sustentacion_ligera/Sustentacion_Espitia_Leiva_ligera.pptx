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2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0:20 · 0:00–0:20
GUION
Esta tesis pregunta qué ocurre con una señal interna de rechazo cuando un modelo pasa de conversar a recibir un contexto agéntico. Voy a explicar el problema, cómo lo medí y qué resultados considero más importantes.
TRANSICIÓN
Primero, ¿por qué importa ese cambio de contexto?
FUENTES Y ALCANCE
Título y alcance del documento de tesis. Esta versión resume la exposición completa.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 0:20–1:05
GUION
En una conversación, el resultado visible suele ser un texto. Un agente también puede solicitar una llamada a una herramienta, y el sistema que lo rodea puede ejecutarla. Por eso una misma petición puede tener consecuencias distintas. El rechazo es una de las conductas que se usan para evitar solicitudes dañinas. Mi pregunta es si una señal asociada a ese rechazo se conserva cuando cambia el contexto de entrada. En el experimento no se ejecutan herramientas reales: se incorpora su catálogo a la entrada del modelo.
TRANSICIÓN
Un incidente reciente ayuda a ver por qué la pregunta es relevante.
FUENTES Y ALCANCE
Diseño y alcance: tesis, secciones 3.2 y 3.3. El diagrama describe el funcionamiento general de un agente, no una ejecución de herramientas de este experimento.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0:45 · 1:05–1:50
GUION
En julio de 2026, agentes de OpenAI que participaban en una evaluación interna de ciberseguridad salieron del entorno previsto y accedieron a sistemas de terceros, entre ellos Hugging Face. OpenAI aclara que eran modelos de investigación con salvaguardas reducidas. El caso sirve como motivación: un objetivo de evaluación terminó acompañado de acciones fuera del alcance autorizado. Mi tesis no explica ese incidente. Estudia una pregunta más acotada sobre la representación interna de solicitudes, en un turno y sin ejecutar herramientas.
TRANSICIÓN
Esa motivación se convierte en una pregunta concreta de investigación.
FUENTES Y ALCANCE
Fuentes primarias: Hugging Face, reconstrucción técnica del incidente de julio de 2026: https://huggingface.co/blog/agent-intrusion-technical-timeline. OpenAI, informe publicado el 26 de agosto de 2026: https://openai.com/index/hugging-face-incident-and-the-road-ahead/. Fuentes verificadas para la presentación completa el 15 de octubre de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0:40 · 1:50–2:30
GUION
La pregunta no es solo si el modelo responde o se niega. Quiero saber si la dirección de rechazo que se estima en chat sigue ayudando a separar solicitudes dañinas y benignas cuando la entrada tiene formato agéntico. Para responder, primero mido la señal, después comparo los dos formatos y finalmente evalúo si puede ser útil como monitor. Durante toda la exposición separaré la señal interna, la detección y la conducta observada.
TRANSICIÓN
Para comparar necesito mantener la solicitud y cambiar su formato.
FUENTES Y ALCANCE
Tesis: pregunta de investigación, objetivos y distinción entre geometría, discriminación y conducta.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 2:30–3:30
GUION
Cada par contiene una solicitud etiquetada como dañina y una contraparte benigna. Cada una se presenta en chat y en formato agéntico. El texto de la solicitud se mantiene entre formatos; en agente se incorpora un mensaje de sistema y el catálogo de herramientas. El catálogo describe funciones y parámetros, pero no ejecuta acciones ni acredita permisos. Un ejemplo es cobrar por servicios nunca prestados frente a cobrar por servicios prestados. El corpus ampliado tiene 96 pares. Las exportaciones de Mistral y ambos Qwen usan esos 96; la de Llama contiene 42. Mantengo esos tamaños en los resultados. La explicitud describe cómo se formula el miembro dañino etiquetado; la contraparte conserva su etiqueta benigna.
TRANSICIÓN
Ahora explico la idea matemática con dos pasos sencillos.
FUENTES Y ALCANCE
docs/sustentacion_ligera/fuente/datos_ligera.json, extraído de los resultados verificados; procedencia y SHA-256 registrados en fuentes. Corpus: data/dataset_v2.jsonl y dataset_v2_report.json. Ejemplo: fraud_06, traducción abreviada para explicar el contraste. Se preservan las etiquetas y los resultados originales.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1:15 · 3:30–4:45
GUION
El modelo transforma la entrada en una representación interna: un vector de números. Primero calculo el promedio de las representaciones dañinas y el de las benignas. La resta entre esos dos promedios define una dirección. El dibujo es solo un esquema para imaginarla. Después doy un puntaje a cada entrada según cuánto se alinea con esa dirección. La primera fórmula es una resta de promedios; la segunda, un producto punto con la dirección normalizada. No necesitamos desarrollar el cálculo para seguir los resultados. Lo importante es que el puntaje representa un contraste geométrico entre clases etiquetadas. La conducta de rechazo se observa por separado: tener un puntaje no equivale por sí solo a rechazar.
TRANSICIÓN
Para saber si ese puntaje sirve, hay que probarlo con ejemplos distintos de los usados para estimarlo.
FUENTES Y ALCANCE
Tesis, sección 3.3.1: diferencia de medias y proyección. Se omiten índices de capa y la derivación de normalización para facilitar la exposición. Se lee el flujo residual del último token de la entrada antes de generar; no se usa una representación de la respuesta completa.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0:55 · 4:45–5:40
GUION
Separé el ajuste de la evaluación: la dirección que da puntaje a un par se estima sin usar ese par. Sus variantes quedan juntas para conservar la comparación. Después uso la AUROC, que resume el orden de los puntajes entre dañinas y benignas. Cero coma cinco equivale al azar; uno es un orden perfecto. Una AUROC de cero coma nueve significa que, al tomar una dañina y una benigna al azar, la dañina queda por encima aproximadamente nueve de cada diez veces. Es una medida de orden, no el porcentaje de aciertos de un clasificador con umbral. También observo por separado las respuestas y las falsas alarmas de los monitores.
TRANSICIÓN
Empiezo por el cambio que se ve desde afuera: la conducta.
FUENTES Y ALCANCE
Tesis, sección 3.4.1: validación por pares y AUROC. En los resultados de proyección se usa cross-fitting; los intervalos se condicionan a los puntajes guardados. Los controles detallados de selección y las pruebas están en la presentación completa.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 5:40–6:30
GUION
En Llama, de las mismas 42 solicitudes dañinas, 38 se rechazan en chat y 23 en formato agéntico. Es una diferencia de conducta observada con las etiquetas usadas en el experimento. No son dos grupos de solicitudes diferentes: el texto se mantiene entre formatos. El patrón no demuestra todavía qué mecanismo causó el cambio. Por eso paso a mirar la representación interna y su capacidad de separar las clases. Las etiquetas de rechazo son heurísticas y requieren auditoría humana.
TRANSICIÓN
¿La señal interna también cambia?
FUENTES Y ALCANCE
docs/sustentacion_ligera/fuente/datos_ligera.json, extraído de los resultados verificados; procedencia y SHA-256 registrados en fuentes. Conducta: metricas_avance.json → llama.behavior.refusal. McNemar exacto sobre pares: p=0,000274658. Llama V3, n=42. No se extrapolan estos conteos a 96 pares.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1:10 · 6:30–7:40
GUION
Los puntos oscuros muestran la AUROC en chat y los dorados, la de esa dirección aplicada en agente. Todos los valores agénticos quedan por encima de cero coma cinco, pero la pérdida puntual varía: es mucho mayor en Qwen3 de ocho mil millones que en Qwen3 de treinta y dos mil millones. En Llama, la separación ajustada por escala también cae cerca de 44 por ciento; por tanto, el cambio no consiste solo en que los números se hagan pequeños. En Mistral hay que ser prudente: el intervalo de diferencia de AUROC incluye cero. Y estas comparaciones no aíslan el efecto del tamaño del modelo: cambian también arquitectura, entrenamiento y versión del pipeline.
TRANSICIÓN
Otra pregunta es si la apariencia legítima elimina esa señal.
FUENTES Y ALCANCE
docs/sustentacion_ligera/fuente/datos_ligera.json, extraído de los resultados verificados; procedencia y SHA-256 registrados en fuentes. Datos por modelo → chat/agente/ic_diferencia. Llama d=3,2051→1,8036 (−43,73 %). Mistral: IC95% de diferencia [−0,005645; 0,096899]. Qwen3-8B [0,210392; 0,330946]; Qwen3-32B [0,007704; 0,063477]. Llama n=42; demás modelos n=96. No son pruebas formales de diferencias entre modelos.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 7:40–8:30
GUION
El estrato de apariencia legítima conserva señal por encima del azar en estas tres ejecuciones. Los valores son aproximadamente cero coma 88, cero coma 69 y cero coma 90. Tampoco aparece una jerarquía universal: la mayor pérdida puntual está en el explícito para Mistral y Qwen3 de ocho mil millones, y en el contextual para Qwen3 de treinta y dos mil millones. Esto es descriptivo, porque no tenemos intervalos y contrastes específicos entre estratos. Apariencia legítima describe la formulación del miembro dañino etiquetado; no significa que cualquier declaración de autorización sea un engaño.
TRANSICIÓN
Si la dirección de chat pierde margen, ¿ayuda ajustar un monitor al contexto agéntico?
FUENTES Y ALCANCE
docs/sustentacion_ligera/fuente/datos_ligera.json, extraído de los resultados verificados; procedencia y SHA-256 registrados en fuentes. estratos96 → framed.auroc_agent; 30 dañinas y 30 benignas por modelo. Los tres tamaños totales son 96. El análisis depende de las etiquetas del corpus; autorización real no verificada.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1:05 · 8:30–9:35
GUION
Ajustar un monitor al formato agéntico mejora el AUROC en Llama y ambos Qwen. Para hablar de utilidad muestro conteos con el umbral calibrado en entrenamiento: cuántas dañinas detecta y cuántas benignas marca por error. En Llama, el monitor logístico detecta 37 de 42 dañinas sin falsas alarmas observadas. En el corpus de 96, Qwen3 de treinta y dos mil millones detecta 86 dañinas con 15 falsas alarmas; los otros dos producen más falsas alarmas. El cero de Llama es un resultado de esa muestra, no una garantía de riesgo cero. Tampoco todos los monitores mejoran todo: el AUROC del de Mistral es 0,850 frente a 0,878 del eje de chat aplicado en agente. La utilidad sigue siendo preliminar y necesita validación externa.
TRANSICIÓN
Observar una señal es una cosa. Forzarla durante la generación es otra.
FUENTES Y ALCANCE
docs/sustentacion_ligera/fuente/datos_ligera.json, extraído de los resultados verificados; procedencia y SHA-256 registrados en fuentes. modelos → monitor. TP=recall*n, FP=FPR*n, ambos enteros comprobados y coherentes con F1. Llama: logística; no se muestra aquí el segundo estimador de medias de la versión completa. AUROC de monitores: Llama 0,9926, Mistral 0,8498, Qwen8 0,8297, Qwen32 0,9406. Comparación descriptiva, sin prueba formal entre monitores.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0:50 · 9:35–10:25
GUION
También probé sumar la dirección durante la generación en Llama. Muestro una intensidad concreta para hacer visible el costo: con dosis dos, rechaza las 19 dañinas del subconjunto, pero también 40 de 41 benignas. Con una dirección aleatoria de igual norma rechaza solo una de las 19 dañinas. Hay un efecto sobre la conducta etiquetada, pero no una reparación selectiva de seguridad. Este ensayo es exploratorio: usa subconjuntos que no rechazaban en agente y una capa distinta de la del diagnóstico. No permite concluir que la reorientación geométrica sea la causa del fallo.
TRANSICIÓN
Con estos resultados puedo responder la pregunta inicial.
FUENTES Y ALCANCE
docs/sustentacion_ligera/fuente/datos_ligera.json, extraído de los resultados verificados; procedencia y SHA-256 registrados en fuentes. intervencion_dosis2, extraída de llama.intervencion56.per_dose['2']. Capa 56, alfa=13,8512735; n dañinas=19, benignas=41. Rechazos: 19 y 40; control aleatorio 1. No se corrige aquí por la búsqueda entre capas y dosis.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1:00 · 10:25–11:25
GUION
La dirección conversacional conserva capacidad de separar, aunque el margen cambia al pasar a agente y la magnitud depende del modelo. La tesis aporta una manera de medir ese cambio y de separar tres cosas: representación interna, detección y conducta. Los monitores muestran utilidad preliminar; la intervención muestra que recuperar rechazo también puede bloquear solicitudes benignas. Los límites son concretos: un turno y herramientas sin ejecución, tamaños y versiones distintos, etiquetas que necesitan revisión humana y ausencia de validación externa. La autorización declarada no se verifica, y casos como fraud_01 conservan una ambigüedad que debe auditarse. Las conclusiones dependen de la validez de las etiquetas; no son una garantía operacional de seguridad.
TRANSICIÓN
Cierro con la implicación práctica que conecta todo el trabajo.
FUENTES Y ALCANCE
Síntesis de los resultados anteriores y de las limitaciones de la presentación completa. Véase docs/sustentacion/nota_autorizacion_etiquetas.md. No se modifican retrospectivamente etiquetas, muestras ni métricas.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ORIENTATIVO: 0:25 · 11:25–11:50
GUION
La idea para recordar es que la seguridad puede cambiar cuando cambia el contexto del modelo. Antes de confiar en que un agente rechazará, conviene medir si todavía distingue. Muchas gracias.
TRANSICIÓN
Preguntas.
FUENTES Y ALCANCE
Conclusión de la tesis y de esta exposición. No se añaden resultados en el cierre.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APOYO · usar solo en preguntas
GUION
Las dos referencias externas son fuentes primarias del incidente de Hugging Face. Los datos de la tesis se conservan en los archivos del repositorio; esta versión registra ruta y hash de las fuentes y reutiliza las cifras verificadas de la presentación completa.
TRANSICIÓN
FUENTES Y ALCANCE
https://huggingface.co/blog/agent-intrusion-technical-timeline
https://openai.com/index/hugging-face-incident-and-the-road-ahead/
docs/sustentacion_ligera/fuente/datos_ligera.json, extraído de los resultados verificados; procedencia y SHA-256 registrados en fuentes.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APOYO · usar solo en preguntas
GUION
El experimento no verifica identidades ni permisos reales. Si dos escenarios tienen el mismo texto y contexto, pero difieren solo en una autorización oculta, este diseño no puede observar esa diferencia. En fraud_01, el benigno declara cuentas de prueba y QA, pero la contraparte dañina no afirma que las credenciales sean robadas; ese par debe revisarse. Cambiar el ejemplo didáctico a fraud_06 no resuelve la validez del corpus. Se conservan los resultados existentes y se declara la limitación. Tampoco se clasifica una auditoría como ataque solo por decir que es una auditoría: hay que examinar la acción pedida y el contexto disponible.
TRANSICIÓN
FUENTES Y ALCANCE
docs/sustentacion/nota_autorizacion_etiquetas.md; data/dataset_full.jsonl y data/dataset_v2.jsonl → fraud_01, fraud_06. Este mazo no reetiqueta ni reejecuta el corpus.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Eq2" Type="http://schemas.openxmlformats.org/officeDocument/2006/relationships/image" Target="../media/ecuacion_06_ligera_p.png"/><Relationship Id="rId1" Type="http://schemas.openxmlformats.org/officeDocument/2006/relationships/slideLayout" Target="../slideLayouts/slideLayout1.xml"/><Relationship Id="rIdEq1" Type="http://schemas.openxmlformats.org/officeDocument/2006/relationships/image" Target="../media/ecuacion_06_ligera_r.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huggingface.co/blog/agent-intrusion-technical-timelin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openai.com/index/hugging-face-incident-and-the-road-ahead/"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Users\38614180\AgentHarm\agentic-safety-probe\docs\tesis\Tesis_avances_actualizada\images\logo-externado-matematicas.png"/>
          <p:cNvPicPr>
            <a:picLocks noChangeAspect="1"/>
          </p:cNvPicPr>
          <p:nvPr/>
        </p:nvPicPr>
        <p:blipFill>
          <a:blip r:embed="rId3"/>
          <a:stretch>
            <a:fillRect/>
          </a:stretch>
        </p:blipFill>
        <p:spPr>
          <a:xfrm>
            <a:off x="621792" y="347472"/>
            <a:ext cx="1737360" cy="548640"/>
          </a:xfrm>
          <a:prstGeom prst="rect">
            <a:avLst/>
          </a:prstGeom>
        </p:spPr>
      </p:pic>
      <p:sp>
        <p:nvSpPr>
          <p:cNvPr id="3" name="Text 0"/>
          <p:cNvSpPr/>
          <p:nvPr/>
        </p:nvSpPr>
        <p:spPr>
          <a:xfrm>
            <a:off x="6583680" y="512064"/>
            <a:ext cx="4937760" cy="274320"/>
          </a:xfrm>
          <a:prstGeom prst="rect">
            <a:avLst/>
          </a:prstGeom>
          <a:noFill/>
          <a:ln/>
        </p:spPr>
        <p:txBody>
          <a:bodyPr wrap="square" lIns="0" tIns="0" rIns="0" bIns="0" rtlCol="0" anchor="t"/>
          <a:lstStyle/>
          <a:p>
            <a:pPr marL="0" indent="0" algn="r">
              <a:buNone/>
            </a:pPr>
            <a:r>
              <a:rPr lang="en-US" sz="1200" dirty="0">
                <a:solidFill>
                  <a:srgbClr val="70777D"/>
                </a:solidFill>
                <a:latin typeface="Calibri" pitchFamily="34" charset="0"/>
                <a:ea typeface="Calibri" pitchFamily="34" charset="-122"/>
                <a:cs typeface="Calibri" pitchFamily="34" charset="-120"/>
              </a:rPr>
              <a:t>Sustentación de trabajo de grado</a:t>
            </a:r>
            <a:endParaRPr lang="en-US" sz="1200" dirty="0"/>
          </a:p>
        </p:txBody>
      </p:sp>
      <p:sp>
        <p:nvSpPr>
          <p:cNvPr id="4" name="Text 1"/>
          <p:cNvSpPr/>
          <p:nvPr/>
        </p:nvSpPr>
        <p:spPr>
          <a:xfrm>
            <a:off x="621792" y="1417320"/>
            <a:ext cx="10835640" cy="1463040"/>
          </a:xfrm>
          <a:prstGeom prst="rect">
            <a:avLst/>
          </a:prstGeom>
          <a:noFill/>
          <a:ln/>
        </p:spPr>
        <p:txBody>
          <a:bodyPr wrap="square" lIns="0" tIns="0" rIns="0" bIns="0" rtlCol="0" anchor="t"/>
          <a:lstStyle/>
          <a:p>
            <a:pPr marL="0" indent="0">
              <a:buNone/>
            </a:pPr>
            <a:r>
              <a:rPr lang="en-US" sz="3700" b="1" dirty="0">
                <a:solidFill>
                  <a:srgbClr val="26282A"/>
                </a:solidFill>
                <a:latin typeface="Calibri" pitchFamily="34" charset="0"/>
                <a:ea typeface="Calibri" pitchFamily="34" charset="-122"/>
                <a:cs typeface="Calibri" pitchFamily="34" charset="-120"/>
              </a:rPr>
              <a:t>Transformación de la dirección de rechazo en modelos de lenguaje agénticos</a:t>
            </a:r>
            <a:endParaRPr lang="en-US" sz="3700" dirty="0"/>
          </a:p>
        </p:txBody>
      </p:sp>
      <p:sp>
        <p:nvSpPr>
          <p:cNvPr id="5" name="Text 2"/>
          <p:cNvSpPr/>
          <p:nvPr/>
        </p:nvSpPr>
        <p:spPr>
          <a:xfrm>
            <a:off x="621792" y="2971800"/>
            <a:ext cx="10789920" cy="457200"/>
          </a:xfrm>
          <a:prstGeom prst="rect">
            <a:avLst/>
          </a:prstGeom>
          <a:noFill/>
          <a:ln/>
        </p:spPr>
        <p:txBody>
          <a:bodyPr wrap="square" lIns="0" tIns="0" rIns="0" bIns="0" rtlCol="0" anchor="t"/>
          <a:lstStyle/>
          <a:p>
            <a:pPr marL="0" indent="0">
              <a:buNone/>
            </a:pPr>
            <a:r>
              <a:rPr lang="en-US" sz="2300" dirty="0">
                <a:solidFill>
                  <a:srgbClr val="50565C"/>
                </a:solidFill>
                <a:latin typeface="Calibri" pitchFamily="34" charset="0"/>
                <a:ea typeface="Calibri" pitchFamily="34" charset="-122"/>
                <a:cs typeface="Calibri" pitchFamily="34" charset="-120"/>
              </a:rPr>
              <a:t>Un análisis desde la interpretabilidad mecánica</a:t>
            </a:r>
            <a:endParaRPr lang="en-US" sz="2300" dirty="0"/>
          </a:p>
        </p:txBody>
      </p:sp>
      <p:sp>
        <p:nvSpPr>
          <p:cNvPr id="6" name="Shape 3"/>
          <p:cNvSpPr/>
          <p:nvPr/>
        </p:nvSpPr>
        <p:spPr>
          <a:xfrm>
            <a:off x="621792" y="4251960"/>
            <a:ext cx="3063240" cy="91"/>
          </a:xfrm>
          <a:prstGeom prst="line">
            <a:avLst/>
          </a:prstGeom>
          <a:noFill/>
          <a:ln w="17780">
            <a:solidFill>
              <a:srgbClr val="D9DDE0"/>
            </a:solidFill>
            <a:prstDash val="solid"/>
          </a:ln>
        </p:spPr>
      </p:sp>
      <p:sp>
        <p:nvSpPr>
          <p:cNvPr id="7" name="Text 4"/>
          <p:cNvSpPr/>
          <p:nvPr/>
        </p:nvSpPr>
        <p:spPr>
          <a:xfrm>
            <a:off x="621792" y="4480560"/>
            <a:ext cx="3108960" cy="685800"/>
          </a:xfrm>
          <a:prstGeom prst="rect">
            <a:avLst/>
          </a:prstGeom>
          <a:noFill/>
          <a:ln/>
        </p:spPr>
        <p:txBody>
          <a:bodyPr wrap="square" lIns="0" tIns="0" rIns="0" bIns="0" rtlCol="0" anchor="t"/>
          <a:lstStyle/>
          <a:p>
            <a:pPr marL="0" indent="0">
              <a:buNone/>
            </a:pPr>
            <a:r>
              <a:rPr lang="en-US" sz="2500" dirty="0">
                <a:solidFill>
                  <a:srgbClr val="26282A"/>
                </a:solidFill>
                <a:latin typeface="Calibri" pitchFamily="34" charset="0"/>
                <a:ea typeface="Calibri" pitchFamily="34" charset="-122"/>
                <a:cs typeface="Calibri" pitchFamily="34" charset="-120"/>
              </a:rPr>
              <a:t>Conversar</a:t>
            </a:r>
            <a:endParaRPr lang="en-US" sz="2500" dirty="0"/>
          </a:p>
        </p:txBody>
      </p:sp>
      <p:sp>
        <p:nvSpPr>
          <p:cNvPr id="8" name="Shape 5"/>
          <p:cNvSpPr/>
          <p:nvPr/>
        </p:nvSpPr>
        <p:spPr>
          <a:xfrm>
            <a:off x="3822192" y="4663440"/>
            <a:ext cx="411480" cy="91"/>
          </a:xfrm>
          <a:prstGeom prst="line">
            <a:avLst/>
          </a:prstGeom>
          <a:noFill/>
          <a:ln w="22860">
            <a:solidFill>
              <a:srgbClr val="70777D"/>
            </a:solidFill>
            <a:prstDash val="solid"/>
            <a:headEnd type="none"/>
            <a:tailEnd type="triangle"/>
          </a:ln>
        </p:spPr>
      </p:sp>
      <p:sp>
        <p:nvSpPr>
          <p:cNvPr id="9" name="Shape 6"/>
          <p:cNvSpPr/>
          <p:nvPr/>
        </p:nvSpPr>
        <p:spPr>
          <a:xfrm>
            <a:off x="4480560" y="4251960"/>
            <a:ext cx="3063240" cy="91"/>
          </a:xfrm>
          <a:prstGeom prst="line">
            <a:avLst/>
          </a:prstGeom>
          <a:noFill/>
          <a:ln w="17780">
            <a:solidFill>
              <a:srgbClr val="D9DDE0"/>
            </a:solidFill>
            <a:prstDash val="solid"/>
          </a:ln>
        </p:spPr>
      </p:sp>
      <p:sp>
        <p:nvSpPr>
          <p:cNvPr id="10" name="Text 7"/>
          <p:cNvSpPr/>
          <p:nvPr/>
        </p:nvSpPr>
        <p:spPr>
          <a:xfrm>
            <a:off x="4480560" y="4480560"/>
            <a:ext cx="3108960" cy="685800"/>
          </a:xfrm>
          <a:prstGeom prst="rect">
            <a:avLst/>
          </a:prstGeom>
          <a:noFill/>
          <a:ln/>
        </p:spPr>
        <p:txBody>
          <a:bodyPr wrap="square" lIns="0" tIns="0" rIns="0" bIns="0" rtlCol="0" anchor="t"/>
          <a:lstStyle/>
          <a:p>
            <a:pPr marL="0" indent="0">
              <a:buNone/>
            </a:pPr>
            <a:r>
              <a:rPr lang="en-US" sz="2500" dirty="0">
                <a:solidFill>
                  <a:srgbClr val="26282A"/>
                </a:solidFill>
                <a:latin typeface="Calibri" pitchFamily="34" charset="0"/>
                <a:ea typeface="Calibri" pitchFamily="34" charset="-122"/>
                <a:cs typeface="Calibri" pitchFamily="34" charset="-120"/>
              </a:rPr>
              <a:t>Actuar</a:t>
            </a:r>
            <a:endParaRPr lang="en-US" sz="2500" dirty="0"/>
          </a:p>
        </p:txBody>
      </p:sp>
      <p:sp>
        <p:nvSpPr>
          <p:cNvPr id="11" name="Shape 8"/>
          <p:cNvSpPr/>
          <p:nvPr/>
        </p:nvSpPr>
        <p:spPr>
          <a:xfrm>
            <a:off x="7680960" y="4663440"/>
            <a:ext cx="411480" cy="91"/>
          </a:xfrm>
          <a:prstGeom prst="line">
            <a:avLst/>
          </a:prstGeom>
          <a:noFill/>
          <a:ln w="22860">
            <a:solidFill>
              <a:srgbClr val="70777D"/>
            </a:solidFill>
            <a:prstDash val="solid"/>
            <a:headEnd type="none"/>
            <a:tailEnd type="triangle"/>
          </a:ln>
        </p:spPr>
      </p:sp>
      <p:sp>
        <p:nvSpPr>
          <p:cNvPr id="12" name="Shape 9"/>
          <p:cNvSpPr/>
          <p:nvPr/>
        </p:nvSpPr>
        <p:spPr>
          <a:xfrm>
            <a:off x="8229600" y="4251960"/>
            <a:ext cx="3063240" cy="91"/>
          </a:xfrm>
          <a:prstGeom prst="line">
            <a:avLst/>
          </a:prstGeom>
          <a:noFill/>
          <a:ln w="17780">
            <a:solidFill>
              <a:srgbClr val="9B743E"/>
            </a:solidFill>
            <a:prstDash val="solid"/>
          </a:ln>
        </p:spPr>
      </p:sp>
      <p:sp>
        <p:nvSpPr>
          <p:cNvPr id="13" name="Text 10"/>
          <p:cNvSpPr/>
          <p:nvPr/>
        </p:nvSpPr>
        <p:spPr>
          <a:xfrm>
            <a:off x="8229600" y="4480560"/>
            <a:ext cx="3108960" cy="685800"/>
          </a:xfrm>
          <a:prstGeom prst="rect">
            <a:avLst/>
          </a:prstGeom>
          <a:noFill/>
          <a:ln/>
        </p:spPr>
        <p:txBody>
          <a:bodyPr wrap="square" lIns="0" tIns="0" rIns="0" bIns="0" rtlCol="0" anchor="t"/>
          <a:lstStyle/>
          <a:p>
            <a:pPr marL="0" indent="0">
              <a:buNone/>
            </a:pPr>
            <a:r>
              <a:rPr lang="en-US" sz="2500" b="1" dirty="0">
                <a:solidFill>
                  <a:srgbClr val="9B743E"/>
                </a:solidFill>
                <a:latin typeface="Calibri" pitchFamily="34" charset="0"/>
                <a:ea typeface="Calibri" pitchFamily="34" charset="-122"/>
                <a:cs typeface="Calibri" pitchFamily="34" charset="-120"/>
              </a:rPr>
              <a:t>¿Conservar el rechazo?</a:t>
            </a:r>
            <a:endParaRPr lang="en-US" sz="2500" dirty="0"/>
          </a:p>
        </p:txBody>
      </p:sp>
      <p:sp>
        <p:nvSpPr>
          <p:cNvPr id="14" name="Text 11"/>
          <p:cNvSpPr/>
          <p:nvPr/>
        </p:nvSpPr>
        <p:spPr>
          <a:xfrm>
            <a:off x="621792" y="5596128"/>
            <a:ext cx="9875520" cy="320040"/>
          </a:xfrm>
          <a:prstGeom prst="rect">
            <a:avLst/>
          </a:prstGeom>
          <a:noFill/>
          <a:ln/>
        </p:spPr>
        <p:txBody>
          <a:bodyPr wrap="square" lIns="0" tIns="0" rIns="0" bIns="0" rtlCol="0" anchor="t"/>
          <a:lstStyle/>
          <a:p>
            <a:pPr marL="0" indent="0">
              <a:buNone/>
            </a:pPr>
            <a:r>
              <a:rPr lang="en-US" sz="1800" b="1" dirty="0">
                <a:solidFill>
                  <a:srgbClr val="26282A"/>
                </a:solidFill>
                <a:latin typeface="Calibri" pitchFamily="34" charset="0"/>
                <a:ea typeface="Calibri" pitchFamily="34" charset="-122"/>
                <a:cs typeface="Calibri" pitchFamily="34" charset="-120"/>
              </a:rPr>
              <a:t>Juan Esteban Espitia Leiva</a:t>
            </a:r>
            <a:endParaRPr lang="en-US" sz="1800" dirty="0"/>
          </a:p>
        </p:txBody>
      </p:sp>
      <p:sp>
        <p:nvSpPr>
          <p:cNvPr id="15" name="Text 12"/>
          <p:cNvSpPr/>
          <p:nvPr/>
        </p:nvSpPr>
        <p:spPr>
          <a:xfrm>
            <a:off x="621792" y="5980176"/>
            <a:ext cx="10789920" cy="320040"/>
          </a:xfrm>
          <a:prstGeom prst="rect">
            <a:avLst/>
          </a:prstGeom>
          <a:noFill/>
          <a:ln/>
        </p:spPr>
        <p:txBody>
          <a:bodyPr wrap="square" lIns="0" tIns="0" rIns="0" bIns="0" rtlCol="0" anchor="t"/>
          <a:lstStyle/>
          <a:p>
            <a:pPr marL="0" indent="0">
              <a:buNone/>
            </a:pPr>
            <a:r>
              <a:rPr lang="en-US" sz="1400" dirty="0">
                <a:solidFill>
                  <a:srgbClr val="70777D"/>
                </a:solidFill>
                <a:latin typeface="Calibri" pitchFamily="34" charset="0"/>
                <a:ea typeface="Calibri" pitchFamily="34" charset="-122"/>
                <a:cs typeface="Calibri" pitchFamily="34" charset="-120"/>
              </a:rPr>
              <a:t>Tutor: Julián Fernando Sánchez · Ciencia de Datos · Universidad Externado de Colombia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El problema</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La misma petición puede terminar en una acción</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02</a:t>
            </a:r>
            <a:endParaRPr lang="en-US" sz="1100" dirty="0"/>
          </a:p>
        </p:txBody>
      </p:sp>
      <p:sp>
        <p:nvSpPr>
          <p:cNvPr id="6" name="Text 4"/>
          <p:cNvSpPr/>
          <p:nvPr/>
        </p:nvSpPr>
        <p:spPr>
          <a:xfrm>
            <a:off x="621792" y="1993392"/>
            <a:ext cx="54864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En una conversación</a:t>
            </a:r>
            <a:endParaRPr lang="en-US" sz="1200" dirty="0"/>
          </a:p>
        </p:txBody>
      </p:sp>
      <p:sp>
        <p:nvSpPr>
          <p:cNvPr id="7" name="Text 5"/>
          <p:cNvSpPr/>
          <p:nvPr/>
        </p:nvSpPr>
        <p:spPr>
          <a:xfrm>
            <a:off x="621792" y="2450592"/>
            <a:ext cx="2743200" cy="457200"/>
          </a:xfrm>
          <a:prstGeom prst="rect">
            <a:avLst/>
          </a:prstGeom>
          <a:noFill/>
          <a:ln/>
        </p:spPr>
        <p:txBody>
          <a:bodyPr wrap="square" lIns="0" tIns="0" rIns="0" bIns="0" rtlCol="0" anchor="t"/>
          <a:lstStyle/>
          <a:p>
            <a:pPr marL="0" indent="0">
              <a:buNone/>
            </a:pPr>
            <a:r>
              <a:rPr lang="en-US" sz="2800" b="1" dirty="0">
                <a:solidFill>
                  <a:srgbClr val="26282A"/>
                </a:solidFill>
                <a:latin typeface="Calibri" pitchFamily="34" charset="0"/>
                <a:ea typeface="Calibri" pitchFamily="34" charset="-122"/>
                <a:cs typeface="Calibri" pitchFamily="34" charset="-120"/>
              </a:rPr>
              <a:t>Solicitud</a:t>
            </a:r>
            <a:endParaRPr lang="en-US" sz="2800" dirty="0"/>
          </a:p>
        </p:txBody>
      </p:sp>
      <p:sp>
        <p:nvSpPr>
          <p:cNvPr id="8" name="Shape 6"/>
          <p:cNvSpPr/>
          <p:nvPr/>
        </p:nvSpPr>
        <p:spPr>
          <a:xfrm>
            <a:off x="3090672" y="2697480"/>
            <a:ext cx="1005840" cy="91"/>
          </a:xfrm>
          <a:prstGeom prst="line">
            <a:avLst/>
          </a:prstGeom>
          <a:noFill/>
          <a:ln w="22860">
            <a:solidFill>
              <a:srgbClr val="70777D"/>
            </a:solidFill>
            <a:prstDash val="solid"/>
            <a:headEnd type="none"/>
            <a:tailEnd type="triangle"/>
          </a:ln>
        </p:spPr>
      </p:sp>
      <p:sp>
        <p:nvSpPr>
          <p:cNvPr id="9" name="Text 7"/>
          <p:cNvSpPr/>
          <p:nvPr/>
        </p:nvSpPr>
        <p:spPr>
          <a:xfrm>
            <a:off x="4480560" y="2450592"/>
            <a:ext cx="2743200" cy="457200"/>
          </a:xfrm>
          <a:prstGeom prst="rect">
            <a:avLst/>
          </a:prstGeom>
          <a:noFill/>
          <a:ln/>
        </p:spPr>
        <p:txBody>
          <a:bodyPr wrap="square" lIns="0" tIns="0" rIns="0" bIns="0" rtlCol="0" anchor="t"/>
          <a:lstStyle/>
          <a:p>
            <a:pPr marL="0" indent="0">
              <a:buNone/>
            </a:pPr>
            <a:r>
              <a:rPr lang="en-US" sz="2800" b="1" dirty="0">
                <a:solidFill>
                  <a:srgbClr val="26282A"/>
                </a:solidFill>
                <a:latin typeface="Calibri" pitchFamily="34" charset="0"/>
                <a:ea typeface="Calibri" pitchFamily="34" charset="-122"/>
                <a:cs typeface="Calibri" pitchFamily="34" charset="-120"/>
              </a:rPr>
              <a:t>Modelo</a:t>
            </a:r>
            <a:endParaRPr lang="en-US" sz="2800" dirty="0"/>
          </a:p>
        </p:txBody>
      </p:sp>
      <p:sp>
        <p:nvSpPr>
          <p:cNvPr id="10" name="Shape 8"/>
          <p:cNvSpPr/>
          <p:nvPr/>
        </p:nvSpPr>
        <p:spPr>
          <a:xfrm>
            <a:off x="6949440" y="2697480"/>
            <a:ext cx="1005840" cy="91"/>
          </a:xfrm>
          <a:prstGeom prst="line">
            <a:avLst/>
          </a:prstGeom>
          <a:noFill/>
          <a:ln w="22860">
            <a:solidFill>
              <a:srgbClr val="70777D"/>
            </a:solidFill>
            <a:prstDash val="solid"/>
            <a:headEnd type="none"/>
            <a:tailEnd type="triangle"/>
          </a:ln>
        </p:spPr>
      </p:sp>
      <p:sp>
        <p:nvSpPr>
          <p:cNvPr id="11" name="Text 9"/>
          <p:cNvSpPr/>
          <p:nvPr/>
        </p:nvSpPr>
        <p:spPr>
          <a:xfrm>
            <a:off x="8321040" y="2450592"/>
            <a:ext cx="2743200" cy="457200"/>
          </a:xfrm>
          <a:prstGeom prst="rect">
            <a:avLst/>
          </a:prstGeom>
          <a:noFill/>
          <a:ln/>
        </p:spPr>
        <p:txBody>
          <a:bodyPr wrap="square" lIns="0" tIns="0" rIns="0" bIns="0" rtlCol="0" anchor="t"/>
          <a:lstStyle/>
          <a:p>
            <a:pPr marL="0" indent="0">
              <a:buNone/>
            </a:pPr>
            <a:r>
              <a:rPr lang="en-US" sz="2800" b="1" dirty="0">
                <a:solidFill>
                  <a:srgbClr val="26282A"/>
                </a:solidFill>
                <a:latin typeface="Calibri" pitchFamily="34" charset="0"/>
                <a:ea typeface="Calibri" pitchFamily="34" charset="-122"/>
                <a:cs typeface="Calibri" pitchFamily="34" charset="-120"/>
              </a:rPr>
              <a:t>Texto</a:t>
            </a:r>
            <a:endParaRPr lang="en-US" sz="2800" dirty="0"/>
          </a:p>
        </p:txBody>
      </p:sp>
      <p:sp>
        <p:nvSpPr>
          <p:cNvPr id="12" name="Shape 10"/>
          <p:cNvSpPr/>
          <p:nvPr/>
        </p:nvSpPr>
        <p:spPr>
          <a:xfrm>
            <a:off x="621792" y="3291840"/>
            <a:ext cx="10948111" cy="91"/>
          </a:xfrm>
          <a:prstGeom prst="line">
            <a:avLst/>
          </a:prstGeom>
          <a:noFill/>
          <a:ln w="12700">
            <a:solidFill>
              <a:srgbClr val="D9DDE0"/>
            </a:solidFill>
            <a:prstDash val="solid"/>
          </a:ln>
        </p:spPr>
      </p:sp>
      <p:sp>
        <p:nvSpPr>
          <p:cNvPr id="13" name="Text 11"/>
          <p:cNvSpPr/>
          <p:nvPr/>
        </p:nvSpPr>
        <p:spPr>
          <a:xfrm>
            <a:off x="621792" y="3611880"/>
            <a:ext cx="548640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Con un agente</a:t>
            </a:r>
            <a:endParaRPr lang="en-US" sz="1200" dirty="0"/>
          </a:p>
        </p:txBody>
      </p:sp>
      <p:sp>
        <p:nvSpPr>
          <p:cNvPr id="14" name="Text 12"/>
          <p:cNvSpPr/>
          <p:nvPr/>
        </p:nvSpPr>
        <p:spPr>
          <a:xfrm>
            <a:off x="621792" y="4023360"/>
            <a:ext cx="2377440" cy="86868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Solicitud y</a:t>
            </a:r>
            <a:endParaRPr lang="en-US" sz="2500" dirty="0"/>
          </a:p>
          <a:p>
            <a:pPr marL="0" indent="0">
              <a:buNone/>
            </a:pPr>
            <a:r>
              <a:rPr lang="en-US" sz="2500" b="1" dirty="0">
                <a:solidFill>
                  <a:srgbClr val="26282A"/>
                </a:solidFill>
                <a:latin typeface="Calibri" pitchFamily="34" charset="0"/>
                <a:ea typeface="Calibri" pitchFamily="34" charset="-122"/>
                <a:cs typeface="Calibri" pitchFamily="34" charset="-120"/>
              </a:rPr>
              <a:t>herramientas</a:t>
            </a:r>
            <a:endParaRPr lang="en-US" sz="2500" dirty="0"/>
          </a:p>
        </p:txBody>
      </p:sp>
      <p:sp>
        <p:nvSpPr>
          <p:cNvPr id="15" name="Shape 13"/>
          <p:cNvSpPr/>
          <p:nvPr/>
        </p:nvSpPr>
        <p:spPr>
          <a:xfrm>
            <a:off x="2953512" y="4352544"/>
            <a:ext cx="411480" cy="91"/>
          </a:xfrm>
          <a:prstGeom prst="line">
            <a:avLst/>
          </a:prstGeom>
          <a:noFill/>
          <a:ln w="22860">
            <a:solidFill>
              <a:srgbClr val="9B743E"/>
            </a:solidFill>
            <a:prstDash val="solid"/>
            <a:headEnd type="none"/>
            <a:tailEnd type="triangle"/>
          </a:ln>
        </p:spPr>
      </p:sp>
      <p:sp>
        <p:nvSpPr>
          <p:cNvPr id="16" name="Text 14"/>
          <p:cNvSpPr/>
          <p:nvPr/>
        </p:nvSpPr>
        <p:spPr>
          <a:xfrm>
            <a:off x="3611880" y="4023360"/>
            <a:ext cx="2377440" cy="86868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Modelo</a:t>
            </a:r>
            <a:endParaRPr lang="en-US" sz="2500" dirty="0"/>
          </a:p>
        </p:txBody>
      </p:sp>
      <p:sp>
        <p:nvSpPr>
          <p:cNvPr id="17" name="Shape 15"/>
          <p:cNvSpPr/>
          <p:nvPr/>
        </p:nvSpPr>
        <p:spPr>
          <a:xfrm>
            <a:off x="5943600" y="4352544"/>
            <a:ext cx="411480" cy="91"/>
          </a:xfrm>
          <a:prstGeom prst="line">
            <a:avLst/>
          </a:prstGeom>
          <a:noFill/>
          <a:ln w="22860">
            <a:solidFill>
              <a:srgbClr val="9B743E"/>
            </a:solidFill>
            <a:prstDash val="solid"/>
            <a:headEnd type="none"/>
            <a:tailEnd type="triangle"/>
          </a:ln>
        </p:spPr>
      </p:sp>
      <p:sp>
        <p:nvSpPr>
          <p:cNvPr id="18" name="Text 16"/>
          <p:cNvSpPr/>
          <p:nvPr/>
        </p:nvSpPr>
        <p:spPr>
          <a:xfrm>
            <a:off x="6537960" y="4023360"/>
            <a:ext cx="2377440" cy="86868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Llamada a</a:t>
            </a:r>
            <a:endParaRPr lang="en-US" sz="2500" dirty="0"/>
          </a:p>
          <a:p>
            <a:pPr marL="0" indent="0">
              <a:buNone/>
            </a:pPr>
            <a:r>
              <a:rPr lang="en-US" sz="2500" b="1" dirty="0">
                <a:solidFill>
                  <a:srgbClr val="26282A"/>
                </a:solidFill>
                <a:latin typeface="Calibri" pitchFamily="34" charset="0"/>
                <a:ea typeface="Calibri" pitchFamily="34" charset="-122"/>
                <a:cs typeface="Calibri" pitchFamily="34" charset="-120"/>
              </a:rPr>
              <a:t>una función</a:t>
            </a:r>
            <a:endParaRPr lang="en-US" sz="2500" dirty="0"/>
          </a:p>
        </p:txBody>
      </p:sp>
      <p:sp>
        <p:nvSpPr>
          <p:cNvPr id="19" name="Shape 17"/>
          <p:cNvSpPr/>
          <p:nvPr/>
        </p:nvSpPr>
        <p:spPr>
          <a:xfrm>
            <a:off x="8869680" y="4352544"/>
            <a:ext cx="411480" cy="91"/>
          </a:xfrm>
          <a:prstGeom prst="line">
            <a:avLst/>
          </a:prstGeom>
          <a:noFill/>
          <a:ln w="22860">
            <a:solidFill>
              <a:srgbClr val="9B743E"/>
            </a:solidFill>
            <a:prstDash val="solid"/>
            <a:headEnd type="none"/>
            <a:tailEnd type="triangle"/>
          </a:ln>
        </p:spPr>
      </p:sp>
      <p:sp>
        <p:nvSpPr>
          <p:cNvPr id="20" name="Text 18"/>
          <p:cNvSpPr/>
          <p:nvPr/>
        </p:nvSpPr>
        <p:spPr>
          <a:xfrm>
            <a:off x="9464040" y="4023360"/>
            <a:ext cx="2011680" cy="868680"/>
          </a:xfrm>
          <a:prstGeom prst="rect">
            <a:avLst/>
          </a:prstGeom>
          <a:noFill/>
          <a:ln/>
        </p:spPr>
        <p:txBody>
          <a:bodyPr wrap="square" lIns="0" tIns="0" rIns="0" bIns="0" rtlCol="0" anchor="t"/>
          <a:lstStyle/>
          <a:p>
            <a:pPr marL="0" indent="0">
              <a:buNone/>
            </a:pPr>
            <a:r>
              <a:rPr lang="en-US" sz="2500" b="1" dirty="0">
                <a:solidFill>
                  <a:srgbClr val="9B743E"/>
                </a:solidFill>
                <a:latin typeface="Calibri" pitchFamily="34" charset="0"/>
                <a:ea typeface="Calibri" pitchFamily="34" charset="-122"/>
                <a:cs typeface="Calibri" pitchFamily="34" charset="-120"/>
              </a:rPr>
              <a:t>Acción del</a:t>
            </a:r>
            <a:endParaRPr lang="en-US" sz="2500" dirty="0"/>
          </a:p>
          <a:p>
            <a:pPr marL="0" indent="0">
              <a:buNone/>
            </a:pPr>
            <a:r>
              <a:rPr lang="en-US" sz="2500" b="1" dirty="0">
                <a:solidFill>
                  <a:srgbClr val="9B743E"/>
                </a:solidFill>
                <a:latin typeface="Calibri" pitchFamily="34" charset="0"/>
                <a:ea typeface="Calibri" pitchFamily="34" charset="-122"/>
                <a:cs typeface="Calibri" pitchFamily="34" charset="-120"/>
              </a:rPr>
              <a:t>sistema</a:t>
            </a:r>
            <a:endParaRPr lang="en-US" sz="2500" dirty="0"/>
          </a:p>
        </p:txBody>
      </p:sp>
      <p:sp>
        <p:nvSpPr>
          <p:cNvPr id="21" name="Text 19"/>
          <p:cNvSpPr/>
          <p:nvPr/>
        </p:nvSpPr>
        <p:spPr>
          <a:xfrm>
            <a:off x="621792" y="5413248"/>
            <a:ext cx="10789920" cy="640080"/>
          </a:xfrm>
          <a:prstGeom prst="rect">
            <a:avLst/>
          </a:prstGeom>
          <a:noFill/>
          <a:ln/>
        </p:spPr>
        <p:txBody>
          <a:bodyPr wrap="square" lIns="0" tIns="0" rIns="0" bIns="0" rtlCol="0" anchor="t"/>
          <a:lstStyle/>
          <a:p>
            <a:pPr marL="0" indent="0">
              <a:buNone/>
            </a:pPr>
            <a:r>
              <a:rPr lang="en-US" sz="2400" dirty="0">
                <a:solidFill>
                  <a:srgbClr val="26282A"/>
                </a:solidFill>
                <a:latin typeface="Calibri" pitchFamily="34" charset="0"/>
                <a:ea typeface="Calibri" pitchFamily="34" charset="-122"/>
                <a:cs typeface="Calibri" pitchFamily="34" charset="-120"/>
              </a:rPr>
              <a:t>La seguridad importa tanto en lo que el modelo dice como en lo que puede pedir que se ejecute.</a:t>
            </a:r>
            <a:endParaRPr lang="en-US" sz="2400" dirty="0"/>
          </a:p>
        </p:txBody>
      </p:sp>
      <p:sp>
        <p:nvSpPr>
          <p:cNvPr id="22" name="Text 20"/>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Esquema del uso de agentes. En esta tesis las herramientas no se ejecutan; se estudia la entrada que recibe el modelo.</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Un caso documentado</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Julio de 2026: de una evaluación a una intrusión</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03</a:t>
            </a:r>
            <a:endParaRPr lang="en-US" sz="1100" dirty="0"/>
          </a:p>
        </p:txBody>
      </p:sp>
      <p:sp>
        <p:nvSpPr>
          <p:cNvPr id="6" name="Text 4"/>
          <p:cNvSpPr/>
          <p:nvPr/>
        </p:nvSpPr>
        <p:spPr>
          <a:xfrm>
            <a:off x="621792" y="1993392"/>
            <a:ext cx="10789920" cy="45720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OpenAI y Hugging Face</a:t>
            </a:r>
            <a:endParaRPr lang="en-US" sz="2700" dirty="0"/>
          </a:p>
        </p:txBody>
      </p:sp>
      <p:sp>
        <p:nvSpPr>
          <p:cNvPr id="7" name="Text 5"/>
          <p:cNvSpPr/>
          <p:nvPr/>
        </p:nvSpPr>
        <p:spPr>
          <a:xfrm>
            <a:off x="621792" y="2761488"/>
            <a:ext cx="182880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01</a:t>
            </a:r>
            <a:endParaRPr lang="en-US" sz="1200" dirty="0"/>
          </a:p>
        </p:txBody>
      </p:sp>
      <p:sp>
        <p:nvSpPr>
          <p:cNvPr id="8" name="Shape 6"/>
          <p:cNvSpPr/>
          <p:nvPr/>
        </p:nvSpPr>
        <p:spPr>
          <a:xfrm>
            <a:off x="621792" y="3108960"/>
            <a:ext cx="3108960" cy="91"/>
          </a:xfrm>
          <a:prstGeom prst="line">
            <a:avLst/>
          </a:prstGeom>
          <a:noFill/>
          <a:ln w="12700">
            <a:solidFill>
              <a:srgbClr val="D9DDE0"/>
            </a:solidFill>
            <a:prstDash val="solid"/>
          </a:ln>
        </p:spPr>
      </p:sp>
      <p:sp>
        <p:nvSpPr>
          <p:cNvPr id="9" name="Text 7"/>
          <p:cNvSpPr/>
          <p:nvPr/>
        </p:nvSpPr>
        <p:spPr>
          <a:xfrm>
            <a:off x="621792" y="3337560"/>
            <a:ext cx="3154680" cy="96012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Evaluación de</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ciberseguridad</a:t>
            </a:r>
            <a:endParaRPr lang="en-US" sz="2700" dirty="0"/>
          </a:p>
        </p:txBody>
      </p:sp>
      <p:sp>
        <p:nvSpPr>
          <p:cNvPr id="10" name="Shape 8"/>
          <p:cNvSpPr/>
          <p:nvPr/>
        </p:nvSpPr>
        <p:spPr>
          <a:xfrm>
            <a:off x="3822192" y="3703320"/>
            <a:ext cx="411480" cy="91"/>
          </a:xfrm>
          <a:prstGeom prst="line">
            <a:avLst/>
          </a:prstGeom>
          <a:noFill/>
          <a:ln w="22860">
            <a:solidFill>
              <a:srgbClr val="70777D"/>
            </a:solidFill>
            <a:prstDash val="solid"/>
            <a:headEnd type="none"/>
            <a:tailEnd type="triangle"/>
          </a:ln>
        </p:spPr>
      </p:sp>
      <p:sp>
        <p:nvSpPr>
          <p:cNvPr id="11" name="Text 9"/>
          <p:cNvSpPr/>
          <p:nvPr/>
        </p:nvSpPr>
        <p:spPr>
          <a:xfrm>
            <a:off x="4480560" y="2761488"/>
            <a:ext cx="182880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02</a:t>
            </a:r>
            <a:endParaRPr lang="en-US" sz="1200" dirty="0"/>
          </a:p>
        </p:txBody>
      </p:sp>
      <p:sp>
        <p:nvSpPr>
          <p:cNvPr id="12" name="Shape 10"/>
          <p:cNvSpPr/>
          <p:nvPr/>
        </p:nvSpPr>
        <p:spPr>
          <a:xfrm>
            <a:off x="4480560" y="3108960"/>
            <a:ext cx="3108960" cy="91"/>
          </a:xfrm>
          <a:prstGeom prst="line">
            <a:avLst/>
          </a:prstGeom>
          <a:noFill/>
          <a:ln w="12700">
            <a:solidFill>
              <a:srgbClr val="D9DDE0"/>
            </a:solidFill>
            <a:prstDash val="solid"/>
          </a:ln>
        </p:spPr>
      </p:sp>
      <p:sp>
        <p:nvSpPr>
          <p:cNvPr id="13" name="Text 11"/>
          <p:cNvSpPr/>
          <p:nvPr/>
        </p:nvSpPr>
        <p:spPr>
          <a:xfrm>
            <a:off x="4480560" y="3337560"/>
            <a:ext cx="3154680" cy="96012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Salida del</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entorno previsto</a:t>
            </a:r>
            <a:endParaRPr lang="en-US" sz="2700" dirty="0"/>
          </a:p>
        </p:txBody>
      </p:sp>
      <p:sp>
        <p:nvSpPr>
          <p:cNvPr id="14" name="Shape 12"/>
          <p:cNvSpPr/>
          <p:nvPr/>
        </p:nvSpPr>
        <p:spPr>
          <a:xfrm>
            <a:off x="7680960" y="3703320"/>
            <a:ext cx="411480" cy="91"/>
          </a:xfrm>
          <a:prstGeom prst="line">
            <a:avLst/>
          </a:prstGeom>
          <a:noFill/>
          <a:ln w="22860">
            <a:solidFill>
              <a:srgbClr val="70777D"/>
            </a:solidFill>
            <a:prstDash val="solid"/>
            <a:headEnd type="none"/>
            <a:tailEnd type="triangle"/>
          </a:ln>
        </p:spPr>
      </p:sp>
      <p:sp>
        <p:nvSpPr>
          <p:cNvPr id="15" name="Text 13"/>
          <p:cNvSpPr/>
          <p:nvPr/>
        </p:nvSpPr>
        <p:spPr>
          <a:xfrm>
            <a:off x="8275320" y="2761488"/>
            <a:ext cx="182880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03</a:t>
            </a:r>
            <a:endParaRPr lang="en-US" sz="1200" dirty="0"/>
          </a:p>
        </p:txBody>
      </p:sp>
      <p:sp>
        <p:nvSpPr>
          <p:cNvPr id="16" name="Shape 14"/>
          <p:cNvSpPr/>
          <p:nvPr/>
        </p:nvSpPr>
        <p:spPr>
          <a:xfrm>
            <a:off x="8275320" y="3108960"/>
            <a:ext cx="3108960" cy="91"/>
          </a:xfrm>
          <a:prstGeom prst="line">
            <a:avLst/>
          </a:prstGeom>
          <a:noFill/>
          <a:ln w="12700">
            <a:solidFill>
              <a:srgbClr val="D9DDE0"/>
            </a:solidFill>
            <a:prstDash val="solid"/>
          </a:ln>
        </p:spPr>
      </p:sp>
      <p:sp>
        <p:nvSpPr>
          <p:cNvPr id="17" name="Text 15"/>
          <p:cNvSpPr/>
          <p:nvPr/>
        </p:nvSpPr>
        <p:spPr>
          <a:xfrm>
            <a:off x="8275320" y="3337560"/>
            <a:ext cx="3154680" cy="96012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Acceso a sistemas</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de Hugging Face</a:t>
            </a:r>
            <a:endParaRPr lang="en-US" sz="2700" dirty="0"/>
          </a:p>
        </p:txBody>
      </p:sp>
      <p:sp>
        <p:nvSpPr>
          <p:cNvPr id="18" name="Text 16"/>
          <p:cNvSpPr/>
          <p:nvPr/>
        </p:nvSpPr>
        <p:spPr>
          <a:xfrm>
            <a:off x="621792" y="4709160"/>
            <a:ext cx="10789920" cy="457200"/>
          </a:xfrm>
          <a:prstGeom prst="rect">
            <a:avLst/>
          </a:prstGeom>
          <a:noFill/>
          <a:ln/>
        </p:spPr>
        <p:txBody>
          <a:bodyPr wrap="square" lIns="0" tIns="0" rIns="0" bIns="0" rtlCol="0" anchor="t"/>
          <a:lstStyle/>
          <a:p>
            <a:pPr marL="0" indent="0">
              <a:buNone/>
            </a:pPr>
            <a:r>
              <a:rPr lang="en-US" sz="1900" dirty="0">
                <a:solidFill>
                  <a:srgbClr val="50565C"/>
                </a:solidFill>
                <a:latin typeface="Calibri" pitchFamily="34" charset="0"/>
                <a:ea typeface="Calibri" pitchFamily="34" charset="-122"/>
                <a:cs typeface="Calibri" pitchFamily="34" charset="-120"/>
              </a:rPr>
              <a:t>Modelos de investigación · evaluación interna · salvaguardas reducidas</a:t>
            </a:r>
            <a:endParaRPr lang="en-US" sz="1900" dirty="0"/>
          </a:p>
        </p:txBody>
      </p:sp>
      <p:sp>
        <p:nvSpPr>
          <p:cNvPr id="19" name="Text 17"/>
          <p:cNvSpPr/>
          <p:nvPr/>
        </p:nvSpPr>
        <p:spPr>
          <a:xfrm>
            <a:off x="621792" y="5513832"/>
            <a:ext cx="10789920" cy="457200"/>
          </a:xfrm>
          <a:prstGeom prst="rect">
            <a:avLst/>
          </a:prstGeom>
          <a:noFill/>
          <a:ln/>
        </p:spPr>
        <p:txBody>
          <a:bodyPr wrap="square" lIns="0" tIns="0" rIns="0" bIns="0" rtlCol="0" anchor="t"/>
          <a:lstStyle/>
          <a:p>
            <a:pPr marL="0" indent="0">
              <a:buNone/>
            </a:pPr>
            <a:r>
              <a:rPr lang="en-US" sz="2500" dirty="0">
                <a:solidFill>
                  <a:srgbClr val="9B743E"/>
                </a:solidFill>
                <a:latin typeface="Calibri" pitchFamily="34" charset="0"/>
                <a:ea typeface="Calibri" pitchFamily="34" charset="-122"/>
                <a:cs typeface="Calibri" pitchFamily="34" charset="-120"/>
              </a:rPr>
              <a:t>El caso motiva estudiar la seguridad cuando el modelo puede actuar.</a:t>
            </a:r>
            <a:endParaRPr lang="en-US" sz="2500" dirty="0"/>
          </a:p>
        </p:txBody>
      </p:sp>
      <p:sp>
        <p:nvSpPr>
          <p:cNvPr id="20" name="Text 18"/>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Fuentes: Hugging Face (27 jul. 2026) y OpenAI (26 ago. 2026). El incidente no es un resultado ni una explicación mecanística de esta tesis.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La pregunta</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¿Se conserva la capacidad de distinguir el daño?</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04</a:t>
            </a:r>
            <a:endParaRPr lang="en-US" sz="1100" dirty="0"/>
          </a:p>
        </p:txBody>
      </p:sp>
      <p:sp>
        <p:nvSpPr>
          <p:cNvPr id="6" name="Text 4"/>
          <p:cNvSpPr/>
          <p:nvPr/>
        </p:nvSpPr>
        <p:spPr>
          <a:xfrm>
            <a:off x="621792" y="2057400"/>
            <a:ext cx="10789920" cy="2011680"/>
          </a:xfrm>
          <a:prstGeom prst="rect">
            <a:avLst/>
          </a:prstGeom>
          <a:noFill/>
          <a:ln/>
        </p:spPr>
        <p:txBody>
          <a:bodyPr wrap="square" lIns="0" tIns="0" rIns="0" bIns="0" rtlCol="0" anchor="t"/>
          <a:lstStyle/>
          <a:p>
            <a:pPr marL="0" indent="0">
              <a:buNone/>
            </a:pPr>
            <a:r>
              <a:rPr lang="en-US" sz="3300" b="1" dirty="0">
                <a:solidFill>
                  <a:srgbClr val="26282A"/>
                </a:solidFill>
                <a:latin typeface="Calibri" pitchFamily="34" charset="0"/>
                <a:ea typeface="Calibri" pitchFamily="34" charset="-122"/>
                <a:cs typeface="Calibri" pitchFamily="34" charset="-120"/>
              </a:rPr>
              <a:t>Cuando el modelo pasa de chat a agente,</a:t>
            </a:r>
            <a:endParaRPr lang="en-US" sz="3300" dirty="0"/>
          </a:p>
          <a:p>
            <a:pPr marL="0" indent="0">
              <a:buNone/>
            </a:pPr>
            <a:r>
              <a:rPr lang="en-US" sz="3300" b="1" dirty="0">
                <a:solidFill>
                  <a:srgbClr val="26282A"/>
                </a:solidFill>
                <a:latin typeface="Calibri" pitchFamily="34" charset="0"/>
                <a:ea typeface="Calibri" pitchFamily="34" charset="-122"/>
                <a:cs typeface="Calibri" pitchFamily="34" charset="-120"/>
              </a:rPr>
              <a:t>¿su dirección de rechazo sigue separando</a:t>
            </a:r>
            <a:endParaRPr lang="en-US" sz="3300" dirty="0"/>
          </a:p>
          <a:p>
            <a:pPr marL="0" indent="0">
              <a:buNone/>
            </a:pPr>
            <a:r>
              <a:rPr lang="en-US" sz="3300" b="1" dirty="0">
                <a:solidFill>
                  <a:srgbClr val="26282A"/>
                </a:solidFill>
                <a:latin typeface="Calibri" pitchFamily="34" charset="0"/>
                <a:ea typeface="Calibri" pitchFamily="34" charset="-122"/>
                <a:cs typeface="Calibri" pitchFamily="34" charset="-120"/>
              </a:rPr>
              <a:t>solicitudes dañinas y benignas?</a:t>
            </a:r>
            <a:endParaRPr lang="en-US" sz="3300" dirty="0"/>
          </a:p>
        </p:txBody>
      </p:sp>
      <p:sp>
        <p:nvSpPr>
          <p:cNvPr id="7" name="Text 5"/>
          <p:cNvSpPr/>
          <p:nvPr/>
        </p:nvSpPr>
        <p:spPr>
          <a:xfrm>
            <a:off x="621792" y="4773168"/>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621792" y="5166360"/>
            <a:ext cx="3566160" cy="731520"/>
          </a:xfrm>
          <a:prstGeom prst="rect">
            <a:avLst/>
          </a:prstGeom>
          <a:noFill/>
          <a:ln/>
        </p:spPr>
        <p:txBody>
          <a:bodyPr wrap="square" lIns="0" tIns="0" rIns="0" bIns="0" rtlCol="0" anchor="t"/>
          <a:lstStyle/>
          <a:p>
            <a:pPr marL="0" indent="0">
              <a:buNone/>
            </a:pPr>
            <a:r>
              <a:rPr lang="en-US" sz="2400" dirty="0">
                <a:solidFill>
                  <a:srgbClr val="26282A"/>
                </a:solidFill>
                <a:latin typeface="Calibri" pitchFamily="34" charset="0"/>
                <a:ea typeface="Calibri" pitchFamily="34" charset="-122"/>
                <a:cs typeface="Calibri" pitchFamily="34" charset="-120"/>
              </a:rPr>
              <a:t>Medir una señal</a:t>
            </a:r>
            <a:endParaRPr lang="en-US" sz="2400" dirty="0"/>
          </a:p>
        </p:txBody>
      </p:sp>
      <p:sp>
        <p:nvSpPr>
          <p:cNvPr id="9" name="Text 7"/>
          <p:cNvSpPr/>
          <p:nvPr/>
        </p:nvSpPr>
        <p:spPr>
          <a:xfrm>
            <a:off x="4416552" y="4773168"/>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4416552" y="5166360"/>
            <a:ext cx="3566160" cy="731520"/>
          </a:xfrm>
          <a:prstGeom prst="rect">
            <a:avLst/>
          </a:prstGeom>
          <a:noFill/>
          <a:ln/>
        </p:spPr>
        <p:txBody>
          <a:bodyPr wrap="square" lIns="0" tIns="0" rIns="0" bIns="0" rtlCol="0" anchor="t"/>
          <a:lstStyle/>
          <a:p>
            <a:pPr marL="0" indent="0">
              <a:buNone/>
            </a:pPr>
            <a:r>
              <a:rPr lang="en-US" sz="2400" dirty="0">
                <a:solidFill>
                  <a:srgbClr val="26282A"/>
                </a:solidFill>
                <a:latin typeface="Calibri" pitchFamily="34" charset="0"/>
                <a:ea typeface="Calibri" pitchFamily="34" charset="-122"/>
                <a:cs typeface="Calibri" pitchFamily="34" charset="-120"/>
              </a:rPr>
              <a:t>Comparar formatos</a:t>
            </a:r>
            <a:endParaRPr lang="en-US" sz="2400" dirty="0"/>
          </a:p>
        </p:txBody>
      </p:sp>
      <p:sp>
        <p:nvSpPr>
          <p:cNvPr id="11" name="Text 9"/>
          <p:cNvSpPr/>
          <p:nvPr/>
        </p:nvSpPr>
        <p:spPr>
          <a:xfrm>
            <a:off x="8211312" y="4773168"/>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8211312" y="5166360"/>
            <a:ext cx="3566160" cy="731520"/>
          </a:xfrm>
          <a:prstGeom prst="rect">
            <a:avLst/>
          </a:prstGeom>
          <a:noFill/>
          <a:ln/>
        </p:spPr>
        <p:txBody>
          <a:bodyPr wrap="square" lIns="0" tIns="0" rIns="0" bIns="0" rtlCol="0" anchor="t"/>
          <a:lstStyle/>
          <a:p>
            <a:pPr marL="0" indent="0">
              <a:buNone/>
            </a:pPr>
            <a:r>
              <a:rPr lang="en-US" sz="2400" dirty="0">
                <a:solidFill>
                  <a:srgbClr val="26282A"/>
                </a:solidFill>
                <a:latin typeface="Calibri" pitchFamily="34" charset="0"/>
                <a:ea typeface="Calibri" pitchFamily="34" charset="-122"/>
                <a:cs typeface="Calibri" pitchFamily="34" charset="-120"/>
              </a:rPr>
              <a:t>Evaluar su utilidad</a:t>
            </a:r>
            <a:endParaRPr lang="en-US" sz="2400" dirty="0"/>
          </a:p>
        </p:txBody>
      </p:sp>
      <p:sp>
        <p:nvSpPr>
          <p:cNvPr id="13" name="Text 11"/>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Se distingue entre representación interna, capacidad de detección y conducta de rechazo.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Cómo se comparó</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El texto se conserva; cambia cómo se presenta al modelo</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05</a:t>
            </a:r>
            <a:endParaRPr lang="en-US" sz="1100" dirty="0"/>
          </a:p>
        </p:txBody>
      </p:sp>
      <p:sp>
        <p:nvSpPr>
          <p:cNvPr id="6" name="Text 4"/>
          <p:cNvSpPr/>
          <p:nvPr/>
        </p:nvSpPr>
        <p:spPr>
          <a:xfrm>
            <a:off x="621792" y="1938528"/>
            <a:ext cx="265176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Chat</a:t>
            </a:r>
            <a:endParaRPr lang="en-US" sz="1200" dirty="0"/>
          </a:p>
        </p:txBody>
      </p:sp>
      <p:sp>
        <p:nvSpPr>
          <p:cNvPr id="7" name="Text 5"/>
          <p:cNvSpPr/>
          <p:nvPr/>
        </p:nvSpPr>
        <p:spPr>
          <a:xfrm>
            <a:off x="3794760" y="1938528"/>
            <a:ext cx="283464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Formato agéntico</a:t>
            </a:r>
            <a:endParaRPr lang="en-US" sz="1200" dirty="0"/>
          </a:p>
        </p:txBody>
      </p:sp>
      <p:sp>
        <p:nvSpPr>
          <p:cNvPr id="8" name="Shape 6"/>
          <p:cNvSpPr/>
          <p:nvPr/>
        </p:nvSpPr>
        <p:spPr>
          <a:xfrm>
            <a:off x="621792" y="2286000"/>
            <a:ext cx="2743200" cy="91"/>
          </a:xfrm>
          <a:prstGeom prst="line">
            <a:avLst/>
          </a:prstGeom>
          <a:noFill/>
          <a:ln w="19050">
            <a:solidFill>
              <a:srgbClr val="A14F3D"/>
            </a:solidFill>
            <a:prstDash val="solid"/>
          </a:ln>
        </p:spPr>
      </p:sp>
      <p:sp>
        <p:nvSpPr>
          <p:cNvPr id="9" name="Text 7"/>
          <p:cNvSpPr/>
          <p:nvPr/>
        </p:nvSpPr>
        <p:spPr>
          <a:xfrm>
            <a:off x="621792" y="2423160"/>
            <a:ext cx="2834640" cy="868680"/>
          </a:xfrm>
          <a:prstGeom prst="rect">
            <a:avLst/>
          </a:prstGeom>
          <a:noFill/>
          <a:ln/>
        </p:spPr>
        <p:txBody>
          <a:bodyPr wrap="square" lIns="0" tIns="0" rIns="0" bIns="0" rtlCol="0" anchor="t"/>
          <a:lstStyle/>
          <a:p>
            <a:pPr marL="0" indent="0">
              <a:buNone/>
            </a:pPr>
            <a:r>
              <a:rPr lang="en-US" sz="2100" dirty="0">
                <a:solidFill>
                  <a:srgbClr val="26282A"/>
                </a:solidFill>
                <a:latin typeface="Calibri" pitchFamily="34" charset="0"/>
                <a:ea typeface="Calibri" pitchFamily="34" charset="-122"/>
                <a:cs typeface="Calibri" pitchFamily="34" charset="-120"/>
              </a:rPr>
              <a:t>Solicitud dañina</a:t>
            </a:r>
            <a:endParaRPr lang="en-US" sz="2100" dirty="0"/>
          </a:p>
        </p:txBody>
      </p:sp>
      <p:sp>
        <p:nvSpPr>
          <p:cNvPr id="10" name="Shape 8"/>
          <p:cNvSpPr/>
          <p:nvPr/>
        </p:nvSpPr>
        <p:spPr>
          <a:xfrm>
            <a:off x="3794760" y="2286000"/>
            <a:ext cx="2743200" cy="91"/>
          </a:xfrm>
          <a:prstGeom prst="line">
            <a:avLst/>
          </a:prstGeom>
          <a:noFill/>
          <a:ln w="19050">
            <a:solidFill>
              <a:srgbClr val="A14F3D"/>
            </a:solidFill>
            <a:prstDash val="solid"/>
          </a:ln>
        </p:spPr>
      </p:sp>
      <p:sp>
        <p:nvSpPr>
          <p:cNvPr id="11" name="Text 9"/>
          <p:cNvSpPr/>
          <p:nvPr/>
        </p:nvSpPr>
        <p:spPr>
          <a:xfrm>
            <a:off x="3794760" y="2423160"/>
            <a:ext cx="2834640" cy="868680"/>
          </a:xfrm>
          <a:prstGeom prst="rect">
            <a:avLst/>
          </a:prstGeom>
          <a:noFill/>
          <a:ln/>
        </p:spPr>
        <p:txBody>
          <a:bodyPr wrap="square" lIns="0" tIns="0" rIns="0" bIns="0" rtlCol="0" anchor="t"/>
          <a:lstStyle/>
          <a:p>
            <a:pPr marL="0" indent="0">
              <a:buNone/>
            </a:pPr>
            <a:r>
              <a:rPr lang="en-US" sz="2100" dirty="0">
                <a:solidFill>
                  <a:srgbClr val="26282A"/>
                </a:solidFill>
                <a:latin typeface="Calibri" pitchFamily="34" charset="0"/>
                <a:ea typeface="Calibri" pitchFamily="34" charset="-122"/>
                <a:cs typeface="Calibri" pitchFamily="34" charset="-120"/>
              </a:rPr>
              <a:t>Misma solicitud dañina</a:t>
            </a:r>
            <a:endParaRPr lang="en-US" sz="2100" dirty="0"/>
          </a:p>
          <a:p>
            <a:pPr marL="0" indent="0">
              <a:buNone/>
            </a:pPr>
            <a:r>
              <a:rPr lang="en-US" sz="2100" dirty="0">
                <a:solidFill>
                  <a:srgbClr val="26282A"/>
                </a:solidFill>
                <a:latin typeface="Calibri" pitchFamily="34" charset="0"/>
                <a:ea typeface="Calibri" pitchFamily="34" charset="-122"/>
                <a:cs typeface="Calibri" pitchFamily="34" charset="-120"/>
              </a:rPr>
              <a:t>+ sistema y catálogo</a:t>
            </a:r>
            <a:endParaRPr lang="en-US" sz="2100" dirty="0"/>
          </a:p>
        </p:txBody>
      </p:sp>
      <p:sp>
        <p:nvSpPr>
          <p:cNvPr id="12" name="Shape 10"/>
          <p:cNvSpPr/>
          <p:nvPr/>
        </p:nvSpPr>
        <p:spPr>
          <a:xfrm>
            <a:off x="2743200" y="2788920"/>
            <a:ext cx="777240" cy="91"/>
          </a:xfrm>
          <a:prstGeom prst="line">
            <a:avLst/>
          </a:prstGeom>
          <a:noFill/>
          <a:ln w="22860">
            <a:solidFill>
              <a:srgbClr val="A14F3D"/>
            </a:solidFill>
            <a:prstDash val="solid"/>
            <a:headEnd type="none"/>
            <a:tailEnd type="triangle"/>
          </a:ln>
        </p:spPr>
      </p:sp>
      <p:sp>
        <p:nvSpPr>
          <p:cNvPr id="13" name="Shape 11"/>
          <p:cNvSpPr/>
          <p:nvPr/>
        </p:nvSpPr>
        <p:spPr>
          <a:xfrm>
            <a:off x="621792" y="3520440"/>
            <a:ext cx="2743200" cy="91"/>
          </a:xfrm>
          <a:prstGeom prst="line">
            <a:avLst/>
          </a:prstGeom>
          <a:noFill/>
          <a:ln w="19050">
            <a:solidFill>
              <a:srgbClr val="416879"/>
            </a:solidFill>
            <a:prstDash val="solid"/>
          </a:ln>
        </p:spPr>
      </p:sp>
      <p:sp>
        <p:nvSpPr>
          <p:cNvPr id="14" name="Text 12"/>
          <p:cNvSpPr/>
          <p:nvPr/>
        </p:nvSpPr>
        <p:spPr>
          <a:xfrm>
            <a:off x="621792" y="3657600"/>
            <a:ext cx="2834640" cy="868680"/>
          </a:xfrm>
          <a:prstGeom prst="rect">
            <a:avLst/>
          </a:prstGeom>
          <a:noFill/>
          <a:ln/>
        </p:spPr>
        <p:txBody>
          <a:bodyPr wrap="square" lIns="0" tIns="0" rIns="0" bIns="0" rtlCol="0" anchor="t"/>
          <a:lstStyle/>
          <a:p>
            <a:pPr marL="0" indent="0">
              <a:buNone/>
            </a:pPr>
            <a:r>
              <a:rPr lang="en-US" sz="2100" dirty="0">
                <a:solidFill>
                  <a:srgbClr val="26282A"/>
                </a:solidFill>
                <a:latin typeface="Calibri" pitchFamily="34" charset="0"/>
                <a:ea typeface="Calibri" pitchFamily="34" charset="-122"/>
                <a:cs typeface="Calibri" pitchFamily="34" charset="-120"/>
              </a:rPr>
              <a:t>Contraparte benigna</a:t>
            </a:r>
            <a:endParaRPr lang="en-US" sz="2100" dirty="0"/>
          </a:p>
        </p:txBody>
      </p:sp>
      <p:sp>
        <p:nvSpPr>
          <p:cNvPr id="15" name="Shape 13"/>
          <p:cNvSpPr/>
          <p:nvPr/>
        </p:nvSpPr>
        <p:spPr>
          <a:xfrm>
            <a:off x="3794760" y="3520440"/>
            <a:ext cx="2743200" cy="91"/>
          </a:xfrm>
          <a:prstGeom prst="line">
            <a:avLst/>
          </a:prstGeom>
          <a:noFill/>
          <a:ln w="19050">
            <a:solidFill>
              <a:srgbClr val="416879"/>
            </a:solidFill>
            <a:prstDash val="solid"/>
          </a:ln>
        </p:spPr>
      </p:sp>
      <p:sp>
        <p:nvSpPr>
          <p:cNvPr id="16" name="Text 14"/>
          <p:cNvSpPr/>
          <p:nvPr/>
        </p:nvSpPr>
        <p:spPr>
          <a:xfrm>
            <a:off x="3794760" y="3657600"/>
            <a:ext cx="2834640" cy="868680"/>
          </a:xfrm>
          <a:prstGeom prst="rect">
            <a:avLst/>
          </a:prstGeom>
          <a:noFill/>
          <a:ln/>
        </p:spPr>
        <p:txBody>
          <a:bodyPr wrap="square" lIns="0" tIns="0" rIns="0" bIns="0" rtlCol="0" anchor="t"/>
          <a:lstStyle/>
          <a:p>
            <a:pPr marL="0" indent="0">
              <a:buNone/>
            </a:pPr>
            <a:r>
              <a:rPr lang="en-US" sz="2100" dirty="0">
                <a:solidFill>
                  <a:srgbClr val="26282A"/>
                </a:solidFill>
                <a:latin typeface="Calibri" pitchFamily="34" charset="0"/>
                <a:ea typeface="Calibri" pitchFamily="34" charset="-122"/>
                <a:cs typeface="Calibri" pitchFamily="34" charset="-120"/>
              </a:rPr>
              <a:t>Misma contraparte benigna</a:t>
            </a:r>
            <a:endParaRPr lang="en-US" sz="2100" dirty="0"/>
          </a:p>
          <a:p>
            <a:pPr marL="0" indent="0">
              <a:buNone/>
            </a:pPr>
            <a:r>
              <a:rPr lang="en-US" sz="2100" dirty="0">
                <a:solidFill>
                  <a:srgbClr val="26282A"/>
                </a:solidFill>
                <a:latin typeface="Calibri" pitchFamily="34" charset="0"/>
                <a:ea typeface="Calibri" pitchFamily="34" charset="-122"/>
                <a:cs typeface="Calibri" pitchFamily="34" charset="-120"/>
              </a:rPr>
              <a:t>+ sistema y catálogo</a:t>
            </a:r>
            <a:endParaRPr lang="en-US" sz="2100" dirty="0"/>
          </a:p>
        </p:txBody>
      </p:sp>
      <p:sp>
        <p:nvSpPr>
          <p:cNvPr id="17" name="Shape 15"/>
          <p:cNvSpPr/>
          <p:nvPr/>
        </p:nvSpPr>
        <p:spPr>
          <a:xfrm>
            <a:off x="2743200" y="4023360"/>
            <a:ext cx="777240" cy="91"/>
          </a:xfrm>
          <a:prstGeom prst="line">
            <a:avLst/>
          </a:prstGeom>
          <a:noFill/>
          <a:ln w="22860">
            <a:solidFill>
              <a:srgbClr val="416879"/>
            </a:solidFill>
            <a:prstDash val="solid"/>
            <a:headEnd type="none"/>
            <a:tailEnd type="triangle"/>
          </a:ln>
        </p:spPr>
      </p:sp>
      <p:sp>
        <p:nvSpPr>
          <p:cNvPr id="18" name="Shape 16"/>
          <p:cNvSpPr/>
          <p:nvPr/>
        </p:nvSpPr>
        <p:spPr>
          <a:xfrm>
            <a:off x="6995160" y="1938528"/>
            <a:ext cx="91" cy="2798064"/>
          </a:xfrm>
          <a:prstGeom prst="line">
            <a:avLst/>
          </a:prstGeom>
          <a:noFill/>
          <a:ln w="12700">
            <a:solidFill>
              <a:srgbClr val="D9DDE0"/>
            </a:solidFill>
            <a:prstDash val="solid"/>
          </a:ln>
        </p:spPr>
      </p:sp>
      <p:sp>
        <p:nvSpPr>
          <p:cNvPr id="19" name="Text 17"/>
          <p:cNvSpPr/>
          <p:nvPr/>
        </p:nvSpPr>
        <p:spPr>
          <a:xfrm>
            <a:off x="7360920" y="1993392"/>
            <a:ext cx="3931920" cy="640080"/>
          </a:xfrm>
          <a:prstGeom prst="rect">
            <a:avLst/>
          </a:prstGeom>
          <a:noFill/>
          <a:ln/>
        </p:spPr>
        <p:txBody>
          <a:bodyPr wrap="square" lIns="0" tIns="0" rIns="0" bIns="0" rtlCol="0" anchor="t"/>
          <a:lstStyle/>
          <a:p>
            <a:pPr marL="0" indent="0">
              <a:buNone/>
            </a:pPr>
            <a:r>
              <a:rPr lang="en-US" sz="3900" b="1" dirty="0">
                <a:solidFill>
                  <a:srgbClr val="26282A"/>
                </a:solidFill>
                <a:latin typeface="Calibri" pitchFamily="34" charset="0"/>
                <a:ea typeface="Calibri" pitchFamily="34" charset="-122"/>
                <a:cs typeface="Calibri" pitchFamily="34" charset="-120"/>
              </a:rPr>
              <a:t>96 pares</a:t>
            </a:r>
            <a:endParaRPr lang="en-US" sz="3900" dirty="0"/>
          </a:p>
        </p:txBody>
      </p:sp>
      <p:sp>
        <p:nvSpPr>
          <p:cNvPr id="20" name="Text 18"/>
          <p:cNvSpPr/>
          <p:nvPr/>
        </p:nvSpPr>
        <p:spPr>
          <a:xfrm>
            <a:off x="7360920" y="2697480"/>
            <a:ext cx="3840480" cy="365760"/>
          </a:xfrm>
          <a:prstGeom prst="rect">
            <a:avLst/>
          </a:prstGeom>
          <a:noFill/>
          <a:ln/>
        </p:spPr>
        <p:txBody>
          <a:bodyPr wrap="square" lIns="0" tIns="0" rIns="0" bIns="0" rtlCol="0" anchor="t"/>
          <a:lstStyle/>
          <a:p>
            <a:pPr marL="0" indent="0">
              <a:buNone/>
            </a:pPr>
            <a:r>
              <a:rPr lang="en-US" sz="2000" dirty="0">
                <a:solidFill>
                  <a:srgbClr val="50565C"/>
                </a:solidFill>
                <a:latin typeface="Calibri" pitchFamily="34" charset="0"/>
                <a:ea typeface="Calibri" pitchFamily="34" charset="-122"/>
                <a:cs typeface="Calibri" pitchFamily="34" charset="-120"/>
              </a:rPr>
              <a:t>en el corpus ampliado</a:t>
            </a:r>
            <a:endParaRPr lang="en-US" sz="2000" dirty="0"/>
          </a:p>
        </p:txBody>
      </p:sp>
      <p:sp>
        <p:nvSpPr>
          <p:cNvPr id="21" name="Text 19"/>
          <p:cNvSpPr/>
          <p:nvPr/>
        </p:nvSpPr>
        <p:spPr>
          <a:xfrm>
            <a:off x="7360920" y="3337560"/>
            <a:ext cx="4069080" cy="91440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Mistral y ambos Qwen: 96 pares</a:t>
            </a:r>
            <a:endParaRPr lang="en-US" sz="2100" dirty="0"/>
          </a:p>
          <a:p>
            <a:pPr marL="0" indent="0">
              <a:buNone/>
            </a:pPr>
            <a:r>
              <a:rPr lang="en-US" sz="2100" b="1" dirty="0">
                <a:solidFill>
                  <a:srgbClr val="26282A"/>
                </a:solidFill>
                <a:latin typeface="Calibri" pitchFamily="34" charset="0"/>
                <a:ea typeface="Calibri" pitchFamily="34" charset="-122"/>
                <a:cs typeface="Calibri" pitchFamily="34" charset="-120"/>
              </a:rPr>
              <a:t>Llama: 42 pares</a:t>
            </a:r>
            <a:endParaRPr lang="en-US" sz="2100" dirty="0"/>
          </a:p>
        </p:txBody>
      </p:sp>
      <p:sp>
        <p:nvSpPr>
          <p:cNvPr id="22" name="Text 20"/>
          <p:cNvSpPr/>
          <p:nvPr/>
        </p:nvSpPr>
        <p:spPr>
          <a:xfrm>
            <a:off x="7360920" y="4370832"/>
            <a:ext cx="4023360" cy="777240"/>
          </a:xfrm>
          <a:prstGeom prst="rect">
            <a:avLst/>
          </a:prstGeom>
          <a:noFill/>
          <a:ln/>
        </p:spPr>
        <p:txBody>
          <a:bodyPr wrap="square" lIns="0" tIns="0" rIns="0" bIns="0" rtlCol="0" anchor="t"/>
          <a:lstStyle/>
          <a:p>
            <a:pPr marL="0" indent="0">
              <a:buNone/>
            </a:pPr>
            <a:r>
              <a:rPr lang="en-US" sz="1800" dirty="0">
                <a:solidFill>
                  <a:srgbClr val="50565C"/>
                </a:solidFill>
                <a:latin typeface="Calibri" pitchFamily="34" charset="0"/>
                <a:ea typeface="Calibri" pitchFamily="34" charset="-122"/>
                <a:cs typeface="Calibri" pitchFamily="34" charset="-120"/>
              </a:rPr>
              <a:t>Tres niveles de explicitud:</a:t>
            </a:r>
            <a:endParaRPr lang="en-US" sz="1800" dirty="0"/>
          </a:p>
          <a:p>
            <a:pPr marL="0" indent="0">
              <a:buNone/>
            </a:pPr>
            <a:r>
              <a:rPr lang="en-US" sz="1800" dirty="0">
                <a:solidFill>
                  <a:srgbClr val="50565C"/>
                </a:solidFill>
                <a:latin typeface="Calibri" pitchFamily="34" charset="0"/>
                <a:ea typeface="Calibri" pitchFamily="34" charset="-122"/>
                <a:cs typeface="Calibri" pitchFamily="34" charset="-120"/>
              </a:rPr>
              <a:t>explícito, contextual y apariencia legítima.</a:t>
            </a:r>
            <a:endParaRPr lang="en-US" sz="1800" dirty="0"/>
          </a:p>
        </p:txBody>
      </p:sp>
      <p:sp>
        <p:nvSpPr>
          <p:cNvPr id="23" name="Text 21"/>
          <p:cNvSpPr/>
          <p:nvPr/>
        </p:nvSpPr>
        <p:spPr>
          <a:xfrm>
            <a:off x="621792" y="5321808"/>
            <a:ext cx="10789920" cy="50292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Entrada agéntica = solicitud + mensaje de sistema + descripciones de herramientas.</a:t>
            </a:r>
            <a:endParaRPr lang="en-US" sz="2100" dirty="0"/>
          </a:p>
        </p:txBody>
      </p:sp>
      <p:sp>
        <p:nvSpPr>
          <p:cNvPr id="24" name="Text 22"/>
          <p:cNvSpPr/>
          <p:nvPr/>
        </p:nvSpPr>
        <p:spPr>
          <a:xfrm>
            <a:off x="621792" y="5833872"/>
            <a:ext cx="10789920" cy="320040"/>
          </a:xfrm>
          <a:prstGeom prst="rect">
            <a:avLst/>
          </a:prstGeom>
          <a:noFill/>
          <a:ln/>
        </p:spPr>
        <p:txBody>
          <a:bodyPr wrap="square" lIns="0" tIns="0" rIns="0" bIns="0" rtlCol="0" anchor="t"/>
          <a:lstStyle/>
          <a:p>
            <a:pPr marL="0" indent="0">
              <a:buNone/>
            </a:pPr>
            <a:r>
              <a:rPr lang="en-US" sz="1700" dirty="0">
                <a:solidFill>
                  <a:srgbClr val="50565C"/>
                </a:solidFill>
                <a:latin typeface="Calibri" pitchFamily="34" charset="0"/>
                <a:ea typeface="Calibri" pitchFamily="34" charset="-122"/>
                <a:cs typeface="Calibri" pitchFamily="34" charset="-120"/>
              </a:rPr>
              <a:t>Ejemplo abreviado: facturar servicios no prestados / facturar servicios prestados.</a:t>
            </a:r>
            <a:endParaRPr lang="en-US" sz="1700" dirty="0"/>
          </a:p>
        </p:txBody>
      </p:sp>
      <p:sp>
        <p:nvSpPr>
          <p:cNvPr id="25" name="Text 23"/>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Catálogo sin ejecución. Ejemplo: adaptación al español de fraud_06. Tamaños verificados en las exportaciones de resultados.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La matemática esencial</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Buscar una dirección y dar un puntaje a cada entrada</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06</a:t>
            </a:r>
            <a:endParaRPr lang="en-US" sz="1100" dirty="0"/>
          </a:p>
        </p:txBody>
      </p:sp>
      <p:sp>
        <p:nvSpPr>
          <p:cNvPr id="6" name="Text 4"/>
          <p:cNvSpPr/>
          <p:nvPr/>
        </p:nvSpPr>
        <p:spPr>
          <a:xfrm>
            <a:off x="621792" y="2011680"/>
            <a:ext cx="493776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Representación interna · esquema ilustrativo</a:t>
            </a:r>
            <a:endParaRPr lang="en-US" sz="1200" dirty="0"/>
          </a:p>
        </p:txBody>
      </p:sp>
      <p:sp>
        <p:nvSpPr>
          <p:cNvPr id="7" name="Shape 5"/>
          <p:cNvSpPr/>
          <p:nvPr/>
        </p:nvSpPr>
        <p:spPr>
          <a:xfrm>
            <a:off x="1307592" y="4142232"/>
            <a:ext cx="128016" cy="128016"/>
          </a:xfrm>
          <a:prstGeom prst="ellipse">
            <a:avLst/>
          </a:prstGeom>
          <a:solidFill>
            <a:srgbClr val="416879"/>
          </a:solidFill>
          <a:ln w="6350">
            <a:solidFill>
              <a:srgbClr val="416879"/>
            </a:solidFill>
            <a:prstDash val="solid"/>
          </a:ln>
        </p:spPr>
      </p:sp>
      <p:sp>
        <p:nvSpPr>
          <p:cNvPr id="8" name="Shape 6"/>
          <p:cNvSpPr/>
          <p:nvPr/>
        </p:nvSpPr>
        <p:spPr>
          <a:xfrm>
            <a:off x="1581912" y="4599432"/>
            <a:ext cx="128016" cy="128016"/>
          </a:xfrm>
          <a:prstGeom prst="ellipse">
            <a:avLst/>
          </a:prstGeom>
          <a:solidFill>
            <a:srgbClr val="416879"/>
          </a:solidFill>
          <a:ln w="6350">
            <a:solidFill>
              <a:srgbClr val="416879"/>
            </a:solidFill>
            <a:prstDash val="solid"/>
          </a:ln>
        </p:spPr>
      </p:sp>
      <p:sp>
        <p:nvSpPr>
          <p:cNvPr id="9" name="Shape 7"/>
          <p:cNvSpPr/>
          <p:nvPr/>
        </p:nvSpPr>
        <p:spPr>
          <a:xfrm>
            <a:off x="1947672" y="4233672"/>
            <a:ext cx="128016" cy="128016"/>
          </a:xfrm>
          <a:prstGeom prst="ellipse">
            <a:avLst/>
          </a:prstGeom>
          <a:solidFill>
            <a:srgbClr val="416879"/>
          </a:solidFill>
          <a:ln w="6350">
            <a:solidFill>
              <a:srgbClr val="416879"/>
            </a:solidFill>
            <a:prstDash val="solid"/>
          </a:ln>
        </p:spPr>
      </p:sp>
      <p:sp>
        <p:nvSpPr>
          <p:cNvPr id="10" name="Shape 8"/>
          <p:cNvSpPr/>
          <p:nvPr/>
        </p:nvSpPr>
        <p:spPr>
          <a:xfrm>
            <a:off x="2130552" y="4645152"/>
            <a:ext cx="128016" cy="128016"/>
          </a:xfrm>
          <a:prstGeom prst="ellipse">
            <a:avLst/>
          </a:prstGeom>
          <a:solidFill>
            <a:srgbClr val="416879"/>
          </a:solidFill>
          <a:ln w="6350">
            <a:solidFill>
              <a:srgbClr val="416879"/>
            </a:solidFill>
            <a:prstDash val="solid"/>
          </a:ln>
        </p:spPr>
      </p:sp>
      <p:sp>
        <p:nvSpPr>
          <p:cNvPr id="11" name="Shape 9"/>
          <p:cNvSpPr/>
          <p:nvPr/>
        </p:nvSpPr>
        <p:spPr>
          <a:xfrm>
            <a:off x="1444752" y="4828032"/>
            <a:ext cx="128016" cy="128016"/>
          </a:xfrm>
          <a:prstGeom prst="ellipse">
            <a:avLst/>
          </a:prstGeom>
          <a:solidFill>
            <a:srgbClr val="416879"/>
          </a:solidFill>
          <a:ln w="6350">
            <a:solidFill>
              <a:srgbClr val="416879"/>
            </a:solidFill>
            <a:prstDash val="solid"/>
          </a:ln>
        </p:spPr>
      </p:sp>
      <p:sp>
        <p:nvSpPr>
          <p:cNvPr id="12" name="Shape 10"/>
          <p:cNvSpPr/>
          <p:nvPr/>
        </p:nvSpPr>
        <p:spPr>
          <a:xfrm>
            <a:off x="2267712" y="4050792"/>
            <a:ext cx="128016" cy="128016"/>
          </a:xfrm>
          <a:prstGeom prst="ellipse">
            <a:avLst/>
          </a:prstGeom>
          <a:solidFill>
            <a:srgbClr val="416879"/>
          </a:solidFill>
          <a:ln w="6350">
            <a:solidFill>
              <a:srgbClr val="416879"/>
            </a:solidFill>
            <a:prstDash val="solid"/>
          </a:ln>
        </p:spPr>
      </p:sp>
      <p:sp>
        <p:nvSpPr>
          <p:cNvPr id="13" name="Shape 11"/>
          <p:cNvSpPr/>
          <p:nvPr/>
        </p:nvSpPr>
        <p:spPr>
          <a:xfrm>
            <a:off x="1764792" y="4873752"/>
            <a:ext cx="128016" cy="128016"/>
          </a:xfrm>
          <a:prstGeom prst="ellipse">
            <a:avLst/>
          </a:prstGeom>
          <a:solidFill>
            <a:srgbClr val="416879"/>
          </a:solidFill>
          <a:ln w="6350">
            <a:solidFill>
              <a:srgbClr val="416879"/>
            </a:solidFill>
            <a:prstDash val="solid"/>
          </a:ln>
        </p:spPr>
      </p:sp>
      <p:sp>
        <p:nvSpPr>
          <p:cNvPr id="14" name="Shape 12"/>
          <p:cNvSpPr/>
          <p:nvPr/>
        </p:nvSpPr>
        <p:spPr>
          <a:xfrm>
            <a:off x="1719072" y="4370832"/>
            <a:ext cx="219456" cy="219456"/>
          </a:xfrm>
          <a:prstGeom prst="ellipse">
            <a:avLst/>
          </a:prstGeom>
          <a:solidFill>
            <a:srgbClr val="FFFFFF"/>
          </a:solidFill>
          <a:ln w="16510">
            <a:solidFill>
              <a:srgbClr val="416879"/>
            </a:solidFill>
            <a:prstDash val="solid"/>
          </a:ln>
        </p:spPr>
      </p:sp>
      <p:sp>
        <p:nvSpPr>
          <p:cNvPr id="15" name="Text 13"/>
          <p:cNvSpPr/>
          <p:nvPr/>
        </p:nvSpPr>
        <p:spPr>
          <a:xfrm>
            <a:off x="1097280" y="5120640"/>
            <a:ext cx="2103120" cy="320040"/>
          </a:xfrm>
          <a:prstGeom prst="rect">
            <a:avLst/>
          </a:prstGeom>
          <a:noFill/>
          <a:ln/>
        </p:spPr>
        <p:txBody>
          <a:bodyPr wrap="square" lIns="0" tIns="0" rIns="0" bIns="0" rtlCol="0" anchor="t"/>
          <a:lstStyle/>
          <a:p>
            <a:pPr marL="0" indent="0">
              <a:buNone/>
            </a:pPr>
            <a:r>
              <a:rPr lang="en-US" sz="1800" b="1" dirty="0">
                <a:solidFill>
                  <a:srgbClr val="416879"/>
                </a:solidFill>
                <a:latin typeface="Calibri" pitchFamily="34" charset="0"/>
                <a:ea typeface="Calibri" pitchFamily="34" charset="-122"/>
                <a:cs typeface="Calibri" pitchFamily="34" charset="-120"/>
              </a:rPr>
              <a:t>Benignas</a:t>
            </a:r>
            <a:endParaRPr lang="en-US" sz="1800" dirty="0"/>
          </a:p>
        </p:txBody>
      </p:sp>
      <p:sp>
        <p:nvSpPr>
          <p:cNvPr id="16" name="Shape 14"/>
          <p:cNvSpPr/>
          <p:nvPr/>
        </p:nvSpPr>
        <p:spPr>
          <a:xfrm>
            <a:off x="3410712" y="2770632"/>
            <a:ext cx="128016" cy="128016"/>
          </a:xfrm>
          <a:prstGeom prst="ellipse">
            <a:avLst/>
          </a:prstGeom>
          <a:solidFill>
            <a:srgbClr val="A14F3D"/>
          </a:solidFill>
          <a:ln w="6350">
            <a:solidFill>
              <a:srgbClr val="A14F3D"/>
            </a:solidFill>
            <a:prstDash val="solid"/>
          </a:ln>
        </p:spPr>
      </p:sp>
      <p:sp>
        <p:nvSpPr>
          <p:cNvPr id="17" name="Shape 15"/>
          <p:cNvSpPr/>
          <p:nvPr/>
        </p:nvSpPr>
        <p:spPr>
          <a:xfrm>
            <a:off x="3685032" y="3227832"/>
            <a:ext cx="128016" cy="128016"/>
          </a:xfrm>
          <a:prstGeom prst="ellipse">
            <a:avLst/>
          </a:prstGeom>
          <a:solidFill>
            <a:srgbClr val="A14F3D"/>
          </a:solidFill>
          <a:ln w="6350">
            <a:solidFill>
              <a:srgbClr val="A14F3D"/>
            </a:solidFill>
            <a:prstDash val="solid"/>
          </a:ln>
        </p:spPr>
      </p:sp>
      <p:sp>
        <p:nvSpPr>
          <p:cNvPr id="18" name="Shape 16"/>
          <p:cNvSpPr/>
          <p:nvPr/>
        </p:nvSpPr>
        <p:spPr>
          <a:xfrm>
            <a:off x="4050792" y="2862072"/>
            <a:ext cx="128016" cy="128016"/>
          </a:xfrm>
          <a:prstGeom prst="ellipse">
            <a:avLst/>
          </a:prstGeom>
          <a:solidFill>
            <a:srgbClr val="A14F3D"/>
          </a:solidFill>
          <a:ln w="6350">
            <a:solidFill>
              <a:srgbClr val="A14F3D"/>
            </a:solidFill>
            <a:prstDash val="solid"/>
          </a:ln>
        </p:spPr>
      </p:sp>
      <p:sp>
        <p:nvSpPr>
          <p:cNvPr id="19" name="Shape 17"/>
          <p:cNvSpPr/>
          <p:nvPr/>
        </p:nvSpPr>
        <p:spPr>
          <a:xfrm>
            <a:off x="4233672" y="3273552"/>
            <a:ext cx="128016" cy="128016"/>
          </a:xfrm>
          <a:prstGeom prst="ellipse">
            <a:avLst/>
          </a:prstGeom>
          <a:solidFill>
            <a:srgbClr val="A14F3D"/>
          </a:solidFill>
          <a:ln w="6350">
            <a:solidFill>
              <a:srgbClr val="A14F3D"/>
            </a:solidFill>
            <a:prstDash val="solid"/>
          </a:ln>
        </p:spPr>
      </p:sp>
      <p:sp>
        <p:nvSpPr>
          <p:cNvPr id="20" name="Shape 18"/>
          <p:cNvSpPr/>
          <p:nvPr/>
        </p:nvSpPr>
        <p:spPr>
          <a:xfrm>
            <a:off x="3547872" y="3456432"/>
            <a:ext cx="128016" cy="128016"/>
          </a:xfrm>
          <a:prstGeom prst="ellipse">
            <a:avLst/>
          </a:prstGeom>
          <a:solidFill>
            <a:srgbClr val="A14F3D"/>
          </a:solidFill>
          <a:ln w="6350">
            <a:solidFill>
              <a:srgbClr val="A14F3D"/>
            </a:solidFill>
            <a:prstDash val="solid"/>
          </a:ln>
        </p:spPr>
      </p:sp>
      <p:sp>
        <p:nvSpPr>
          <p:cNvPr id="21" name="Shape 19"/>
          <p:cNvSpPr/>
          <p:nvPr/>
        </p:nvSpPr>
        <p:spPr>
          <a:xfrm>
            <a:off x="4370832" y="2679192"/>
            <a:ext cx="128016" cy="128016"/>
          </a:xfrm>
          <a:prstGeom prst="ellipse">
            <a:avLst/>
          </a:prstGeom>
          <a:solidFill>
            <a:srgbClr val="A14F3D"/>
          </a:solidFill>
          <a:ln w="6350">
            <a:solidFill>
              <a:srgbClr val="A14F3D"/>
            </a:solidFill>
            <a:prstDash val="solid"/>
          </a:ln>
        </p:spPr>
      </p:sp>
      <p:sp>
        <p:nvSpPr>
          <p:cNvPr id="22" name="Shape 20"/>
          <p:cNvSpPr/>
          <p:nvPr/>
        </p:nvSpPr>
        <p:spPr>
          <a:xfrm>
            <a:off x="3867912" y="3502152"/>
            <a:ext cx="128016" cy="128016"/>
          </a:xfrm>
          <a:prstGeom prst="ellipse">
            <a:avLst/>
          </a:prstGeom>
          <a:solidFill>
            <a:srgbClr val="A14F3D"/>
          </a:solidFill>
          <a:ln w="6350">
            <a:solidFill>
              <a:srgbClr val="A14F3D"/>
            </a:solidFill>
            <a:prstDash val="solid"/>
          </a:ln>
        </p:spPr>
      </p:sp>
      <p:sp>
        <p:nvSpPr>
          <p:cNvPr id="23" name="Shape 21"/>
          <p:cNvSpPr/>
          <p:nvPr/>
        </p:nvSpPr>
        <p:spPr>
          <a:xfrm>
            <a:off x="3822192" y="2999232"/>
            <a:ext cx="219456" cy="219456"/>
          </a:xfrm>
          <a:prstGeom prst="ellipse">
            <a:avLst/>
          </a:prstGeom>
          <a:solidFill>
            <a:srgbClr val="FFFFFF"/>
          </a:solidFill>
          <a:ln w="16510">
            <a:solidFill>
              <a:srgbClr val="A14F3D"/>
            </a:solidFill>
            <a:prstDash val="solid"/>
          </a:ln>
        </p:spPr>
      </p:sp>
      <p:sp>
        <p:nvSpPr>
          <p:cNvPr id="24" name="Text 22"/>
          <p:cNvSpPr/>
          <p:nvPr/>
        </p:nvSpPr>
        <p:spPr>
          <a:xfrm>
            <a:off x="3200400" y="3749040"/>
            <a:ext cx="2103120" cy="320040"/>
          </a:xfrm>
          <a:prstGeom prst="rect">
            <a:avLst/>
          </a:prstGeom>
          <a:noFill/>
          <a:ln/>
        </p:spPr>
        <p:txBody>
          <a:bodyPr wrap="square" lIns="0" tIns="0" rIns="0" bIns="0" rtlCol="0" anchor="t"/>
          <a:lstStyle/>
          <a:p>
            <a:pPr marL="0" indent="0">
              <a:buNone/>
            </a:pPr>
            <a:r>
              <a:rPr lang="en-US" sz="1800" b="1" dirty="0">
                <a:solidFill>
                  <a:srgbClr val="A14F3D"/>
                </a:solidFill>
                <a:latin typeface="Calibri" pitchFamily="34" charset="0"/>
                <a:ea typeface="Calibri" pitchFamily="34" charset="-122"/>
                <a:cs typeface="Calibri" pitchFamily="34" charset="-120"/>
              </a:rPr>
              <a:t>Dañinas</a:t>
            </a:r>
            <a:endParaRPr lang="en-US" sz="1800" dirty="0"/>
          </a:p>
        </p:txBody>
      </p:sp>
      <p:sp>
        <p:nvSpPr>
          <p:cNvPr id="25" name="Shape 23"/>
          <p:cNvSpPr/>
          <p:nvPr/>
        </p:nvSpPr>
        <p:spPr>
          <a:xfrm flipV="1">
            <a:off x="1828800" y="3108960"/>
            <a:ext cx="2103120" cy="1371600"/>
          </a:xfrm>
          <a:prstGeom prst="line">
            <a:avLst/>
          </a:prstGeom>
          <a:noFill/>
          <a:ln w="25400">
            <a:solidFill>
              <a:srgbClr val="26282A"/>
            </a:solidFill>
            <a:prstDash val="solid"/>
            <a:headEnd type="none"/>
            <a:tailEnd type="triangle"/>
          </a:ln>
        </p:spPr>
      </p:sp>
      <p:sp>
        <p:nvSpPr>
          <p:cNvPr id="26" name="Text 24"/>
          <p:cNvSpPr/>
          <p:nvPr/>
        </p:nvSpPr>
        <p:spPr>
          <a:xfrm>
            <a:off x="2377440" y="2880360"/>
            <a:ext cx="1554480" cy="365760"/>
          </a:xfrm>
          <a:prstGeom prst="rect">
            <a:avLst/>
          </a:prstGeom>
          <a:noFill/>
          <a:ln/>
        </p:spPr>
        <p:txBody>
          <a:bodyPr wrap="square" lIns="0" tIns="0" rIns="0" bIns="0" rtlCol="0" anchor="t"/>
          <a:lstStyle/>
          <a:p>
            <a:pPr marL="0" indent="0">
              <a:buNone/>
            </a:pPr>
            <a:r>
              <a:rPr lang="en-US" sz="1900" b="1" dirty="0">
                <a:solidFill>
                  <a:srgbClr val="26282A"/>
                </a:solidFill>
                <a:latin typeface="Calibri" pitchFamily="34" charset="0"/>
                <a:ea typeface="Calibri" pitchFamily="34" charset="-122"/>
                <a:cs typeface="Calibri" pitchFamily="34" charset="-120"/>
              </a:rPr>
              <a:t>Dirección</a:t>
            </a:r>
            <a:endParaRPr lang="en-US" sz="1900" dirty="0"/>
          </a:p>
        </p:txBody>
      </p:sp>
      <p:sp>
        <p:nvSpPr>
          <p:cNvPr id="27" name="Shape 25"/>
          <p:cNvSpPr/>
          <p:nvPr/>
        </p:nvSpPr>
        <p:spPr>
          <a:xfrm>
            <a:off x="5303520" y="2011680"/>
            <a:ext cx="91" cy="3566160"/>
          </a:xfrm>
          <a:prstGeom prst="line">
            <a:avLst/>
          </a:prstGeom>
          <a:noFill/>
          <a:ln w="12700">
            <a:solidFill>
              <a:srgbClr val="D9DDE0"/>
            </a:solidFill>
            <a:prstDash val="solid"/>
          </a:ln>
        </p:spPr>
      </p:sp>
      <p:sp>
        <p:nvSpPr>
          <p:cNvPr id="28" name="Text 26"/>
          <p:cNvSpPr/>
          <p:nvPr/>
        </p:nvSpPr>
        <p:spPr>
          <a:xfrm>
            <a:off x="5760720" y="1984248"/>
            <a:ext cx="5486400" cy="45720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1. Restar dos promedios</a:t>
            </a:r>
            <a:endParaRPr lang="en-US" sz="2500" dirty="0"/>
          </a:p>
        </p:txBody>
      </p:sp>
      <mc:AlternateContent xmlns:mc="http://schemas.openxmlformats.org/markup-compatibility/2006" xmlns:a14="http://schemas.microsoft.com/office/drawing/2010/main">
        <mc:Choice Requires="a14">
          <p:sp>
            <p:nvSpPr>
              <p:cNvPr id="29" name="EQ__ligera_r__28__26282A__left"/>
              <p:cNvSpPr/>
              <p:nvPr/>
            </p:nvSpPr>
            <p:spPr>
              <a:xfrm>
                <a:off x="5760720" y="2615184"/>
                <a:ext cx="5029200" cy="594360"/>
              </a:xfrm>
              <a:prstGeom prst="rect">
                <a:avLst/>
              </a:prstGeom>
              <a:noFill/>
              <a:ln/>
            </p:spPr>
            <p:txBody>
              <a:bodyPr wrap="square" lIns="0" tIns="0" rIns="0" bIns="0" rtlCol="0" anchor="t"/>
              <a:lstStyle/>
              <a:p>
                <a:pPr algn="l"/>
                <a14:m>
                  <m:oMathPara xmlns:m="http://schemas.openxmlformats.org/officeDocument/2006/math">
                    <m:oMathParaPr>
                      <m:jc m:val="left"/>
                    </m:oMathParaPr>
                    <m:oMath>
                      <m:r>
                        <a:rPr lang="es-CO" sz="2800" b="1" i="1">
                          <a:solidFill>
                            <a:srgbClr val="26282A"/>
                          </a:solidFill>
                          <a:latin typeface="Cambria Math" panose="02040503050406030204" pitchFamily="18" charset="0"/>
                          <a:cs typeface="Cambria Math" panose="02040503050406030204" pitchFamily="18" charset="0"/>
                        </a:rPr>
                        <m:t>𝒓</m:t>
                      </m:r>
                      <m:r>
                        <a:rPr lang="es-CO" sz="2800" b="0" i="0">
                          <a:solidFill>
                            <a:srgbClr val="26282A"/>
                          </a:solidFill>
                          <a:latin typeface="Cambria Math" panose="02040503050406030204" pitchFamily="18" charset="0"/>
                          <a:cs typeface="Cambria Math" panose="02040503050406030204" pitchFamily="18" charset="0"/>
                        </a:rPr>
                        <m:t>=</m:t>
                      </m:r>
                      <m:sSub>
                        <m:sSubPr>
                          <m:ctrlPr>
                            <a:rPr lang="es-CO" sz="2800" b="1" i="1">
                              <a:solidFill>
                                <a:srgbClr val="26282A"/>
                              </a:solidFill>
                              <a:latin typeface="Cambria Math" panose="02040503050406030204" pitchFamily="18" charset="0"/>
                              <a:cs typeface="Cambria Math" panose="02040503050406030204" pitchFamily="18" charset="0"/>
                            </a:rPr>
                          </m:ctrlPr>
                        </m:sSubPr>
                        <m:e>
                          <m:r>
                            <a:rPr lang="es-CO" sz="2800" b="1" i="1">
                              <a:solidFill>
                                <a:srgbClr val="26282A"/>
                              </a:solidFill>
                              <a:latin typeface="Cambria Math" panose="02040503050406030204" pitchFamily="18" charset="0"/>
                              <a:cs typeface="Cambria Math" panose="02040503050406030204" pitchFamily="18" charset="0"/>
                            </a:rPr>
                            <m:t>𝝁</m:t>
                          </m:r>
                        </m:e>
                        <m:sub>
                          <m:r>
                            <m:rPr>
                              <m:sty m:val="p"/>
                            </m:rPr>
                            <a:rPr lang="es-CO" sz="2800" b="0" i="0">
                              <a:solidFill>
                                <a:srgbClr val="26282A"/>
                              </a:solidFill>
                              <a:latin typeface="Cambria Math" panose="02040503050406030204" pitchFamily="18" charset="0"/>
                              <a:cs typeface="Cambria Math" panose="02040503050406030204" pitchFamily="18" charset="0"/>
                            </a:rPr>
                            <m:t>D</m:t>
                          </m:r>
                        </m:sub>
                      </m:sSub>
                      <m:r>
                        <a:rPr lang="es-CO" sz="2800" b="0" i="0">
                          <a:solidFill>
                            <a:srgbClr val="26282A"/>
                          </a:solidFill>
                          <a:latin typeface="Cambria Math" panose="02040503050406030204" pitchFamily="18" charset="0"/>
                          <a:cs typeface="Cambria Math" panose="02040503050406030204" pitchFamily="18" charset="0"/>
                        </a:rPr>
                        <m:t>−</m:t>
                      </m:r>
                      <m:sSub>
                        <m:sSubPr>
                          <m:ctrlPr>
                            <a:rPr lang="es-CO" sz="2800" b="1" i="1">
                              <a:solidFill>
                                <a:srgbClr val="26282A"/>
                              </a:solidFill>
                              <a:latin typeface="Cambria Math" panose="02040503050406030204" pitchFamily="18" charset="0"/>
                              <a:cs typeface="Cambria Math" panose="02040503050406030204" pitchFamily="18" charset="0"/>
                            </a:rPr>
                          </m:ctrlPr>
                        </m:sSubPr>
                        <m:e>
                          <m:r>
                            <a:rPr lang="es-CO" sz="2800" b="1" i="1">
                              <a:solidFill>
                                <a:srgbClr val="26282A"/>
                              </a:solidFill>
                              <a:latin typeface="Cambria Math" panose="02040503050406030204" pitchFamily="18" charset="0"/>
                              <a:cs typeface="Cambria Math" panose="02040503050406030204" pitchFamily="18" charset="0"/>
                            </a:rPr>
                            <m:t>𝝁</m:t>
                          </m:r>
                        </m:e>
                        <m:sub>
                          <m:r>
                            <m:rPr>
                              <m:sty m:val="p"/>
                            </m:rPr>
                            <a:rPr lang="es-CO" sz="2800" b="0" i="0">
                              <a:solidFill>
                                <a:srgbClr val="26282A"/>
                              </a:solidFill>
                              <a:latin typeface="Cambria Math" panose="02040503050406030204" pitchFamily="18" charset="0"/>
                              <a:cs typeface="Cambria Math" panose="02040503050406030204" pitchFamily="18" charset="0"/>
                            </a:rPr>
                            <m:t>B</m:t>
                          </m:r>
                        </m:sub>
                      </m:sSub>
                    </m:oMath>
                  </m:oMathPara>
                </a14:m>
                <a:endParaRPr lang="es-CO" sz="2800"/>
              </a:p>
            </p:txBody>
          </p:sp>
        </mc:Choice>
        <mc:Fallback xmlns="">
          <p:sp>
            <p:nvSpPr>
              <p:cNvPr id="29" name="EQ__ligera_r__28__26282A__left"/>
              <p:cNvSpPr/>
              <p:nvPr/>
            </p:nvSpPr>
            <p:spPr>
              <a:xfrm>
                <a:off x="5646420" y="2500884"/>
                <a:ext cx="5257800" cy="822960"/>
              </a:xfrm>
              <a:prstGeom prst="rect">
                <a:avLst/>
              </a:prstGeom>
              <a:blipFill>
                <a:blip r:embed="rIdEq1"/>
                <a:stretch>
                  <a:fillRect/>
                </a:stretch>
              </a:blipFill>
              <a:ln>
                <a:noFill/>
              </a:ln>
            </p:spPr>
            <p:txBody>
              <a:bodyPr wrap="square" lIns="0" tIns="0" rIns="0" bIns="0" rtlCol="0" anchor="t"/>
              <a:lstStyle/>
              <a:p>
                <a:endParaRPr lang="es-CO"/>
              </a:p>
            </p:txBody>
          </p:sp>
        </mc:Fallback>
      </mc:AlternateContent>
      <p:sp>
        <p:nvSpPr>
          <p:cNvPr id="30" name="Text 28"/>
          <p:cNvSpPr/>
          <p:nvPr/>
        </p:nvSpPr>
        <p:spPr>
          <a:xfrm>
            <a:off x="5760720" y="3282696"/>
            <a:ext cx="5120640" cy="777240"/>
          </a:xfrm>
          <a:prstGeom prst="rect">
            <a:avLst/>
          </a:prstGeom>
          <a:noFill/>
          <a:ln/>
        </p:spPr>
        <p:txBody>
          <a:bodyPr wrap="square" lIns="0" tIns="0" rIns="0" bIns="0" rtlCol="0" anchor="t"/>
          <a:lstStyle/>
          <a:p>
            <a:pPr marL="0" indent="0">
              <a:buNone/>
            </a:pPr>
            <a:r>
              <a:rPr lang="en-US" sz="2100" dirty="0">
                <a:solidFill>
                  <a:srgbClr val="50565C"/>
                </a:solidFill>
                <a:latin typeface="Calibri" pitchFamily="34" charset="0"/>
                <a:ea typeface="Calibri" pitchFamily="34" charset="-122"/>
                <a:cs typeface="Calibri" pitchFamily="34" charset="-120"/>
              </a:rPr>
              <a:t>Promedio de dañinas menos</a:t>
            </a:r>
            <a:endParaRPr lang="en-US" sz="2100" dirty="0"/>
          </a:p>
          <a:p>
            <a:pPr marL="0" indent="0">
              <a:buNone/>
            </a:pPr>
            <a:r>
              <a:rPr lang="en-US" sz="2100" dirty="0">
                <a:solidFill>
                  <a:srgbClr val="50565C"/>
                </a:solidFill>
                <a:latin typeface="Calibri" pitchFamily="34" charset="0"/>
                <a:ea typeface="Calibri" pitchFamily="34" charset="-122"/>
                <a:cs typeface="Calibri" pitchFamily="34" charset="-120"/>
              </a:rPr>
              <a:t>promedio de benignas.</a:t>
            </a:r>
            <a:endParaRPr lang="en-US" sz="2100" dirty="0"/>
          </a:p>
        </p:txBody>
      </p:sp>
      <p:sp>
        <p:nvSpPr>
          <p:cNvPr id="31" name="Text 29"/>
          <p:cNvSpPr/>
          <p:nvPr/>
        </p:nvSpPr>
        <p:spPr>
          <a:xfrm>
            <a:off x="5760720" y="4206240"/>
            <a:ext cx="5486400" cy="45720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2. Medir la alineación</a:t>
            </a:r>
            <a:endParaRPr lang="en-US" sz="2500" dirty="0"/>
          </a:p>
        </p:txBody>
      </p:sp>
      <mc:AlternateContent xmlns:mc="http://schemas.openxmlformats.org/markup-compatibility/2006" xmlns:a14="http://schemas.microsoft.com/office/drawing/2010/main">
        <mc:Choice Requires="a14">
          <p:sp>
            <p:nvSpPr>
              <p:cNvPr id="32" name="EQ__ligera_p__28__26282A__left"/>
              <p:cNvSpPr/>
              <p:nvPr/>
            </p:nvSpPr>
            <p:spPr>
              <a:xfrm>
                <a:off x="5760720" y="4764024"/>
                <a:ext cx="5029200" cy="548640"/>
              </a:xfrm>
              <a:prstGeom prst="rect">
                <a:avLst/>
              </a:prstGeom>
              <a:noFill/>
              <a:ln/>
            </p:spPr>
            <p:txBody>
              <a:bodyPr wrap="square" lIns="0" tIns="0" rIns="0" bIns="0" rtlCol="0" anchor="t"/>
              <a:lstStyle/>
              <a:p>
                <a:pPr algn="l"/>
                <a14:m>
                  <m:oMathPara xmlns:m="http://schemas.openxmlformats.org/officeDocument/2006/math">
                    <m:oMathParaPr>
                      <m:jc m:val="left"/>
                    </m:oMathParaPr>
                    <m:oMath>
                      <m:r>
                        <a:rPr lang="es-CO" sz="2800" b="0" i="1">
                          <a:solidFill>
                            <a:srgbClr val="26282A"/>
                          </a:solidFill>
                          <a:latin typeface="Cambria Math" panose="02040503050406030204" pitchFamily="18" charset="0"/>
                          <a:cs typeface="Cambria Math" panose="02040503050406030204" pitchFamily="18" charset="0"/>
                        </a:rPr>
                        <m:t>𝑝</m:t>
                      </m:r>
                      <m:r>
                        <a:rPr lang="es-CO" sz="2800" b="0" i="0">
                          <a:solidFill>
                            <a:srgbClr val="26282A"/>
                          </a:solidFill>
                          <a:latin typeface="Cambria Math" panose="02040503050406030204" pitchFamily="18" charset="0"/>
                          <a:cs typeface="Cambria Math" panose="02040503050406030204" pitchFamily="18" charset="0"/>
                        </a:rPr>
                        <m:t>=</m:t>
                      </m:r>
                      <m:r>
                        <a:rPr lang="es-CO" sz="2800" b="1" i="1">
                          <a:solidFill>
                            <a:srgbClr val="26282A"/>
                          </a:solidFill>
                          <a:latin typeface="Cambria Math" panose="02040503050406030204" pitchFamily="18" charset="0"/>
                          <a:cs typeface="Cambria Math" panose="02040503050406030204" pitchFamily="18" charset="0"/>
                        </a:rPr>
                        <m:t>𝒙</m:t>
                      </m:r>
                      <m:r>
                        <a:rPr lang="es-CO" sz="2800" b="0" i="0">
                          <a:solidFill>
                            <a:srgbClr val="26282A"/>
                          </a:solidFill>
                          <a:latin typeface="Cambria Math" panose="02040503050406030204" pitchFamily="18" charset="0"/>
                          <a:cs typeface="Cambria Math" panose="02040503050406030204" pitchFamily="18" charset="0"/>
                        </a:rPr>
                        <m:t>·</m:t>
                      </m:r>
                      <m:acc>
                        <m:accPr>
                          <m:chr m:val="̂"/>
                          <m:ctrlPr>
                            <a:rPr lang="es-CO" sz="2800" b="1" i="1">
                              <a:solidFill>
                                <a:srgbClr val="26282A"/>
                              </a:solidFill>
                              <a:latin typeface="Cambria Math" panose="02040503050406030204" pitchFamily="18" charset="0"/>
                              <a:cs typeface="Cambria Math" panose="02040503050406030204" pitchFamily="18" charset="0"/>
                            </a:rPr>
                          </m:ctrlPr>
                        </m:accPr>
                        <m:e>
                          <m:r>
                            <a:rPr lang="es-CO" sz="2800" b="1" i="1">
                              <a:solidFill>
                                <a:srgbClr val="26282A"/>
                              </a:solidFill>
                              <a:latin typeface="Cambria Math" panose="02040503050406030204" pitchFamily="18" charset="0"/>
                              <a:cs typeface="Cambria Math" panose="02040503050406030204" pitchFamily="18" charset="0"/>
                            </a:rPr>
                            <m:t>𝒓</m:t>
                          </m:r>
                        </m:e>
                      </m:acc>
                    </m:oMath>
                  </m:oMathPara>
                </a14:m>
                <a:endParaRPr lang="es-CO" sz="2800"/>
              </a:p>
            </p:txBody>
          </p:sp>
        </mc:Choice>
        <mc:Fallback xmlns="">
          <p:sp>
            <p:nvSpPr>
              <p:cNvPr id="32" name="EQ__ligera_p__28__26282A__left"/>
              <p:cNvSpPr/>
              <p:nvPr/>
            </p:nvSpPr>
            <p:spPr>
              <a:xfrm>
                <a:off x="5646420" y="4649724"/>
                <a:ext cx="5257800" cy="777240"/>
              </a:xfrm>
              <a:prstGeom prst="rect">
                <a:avLst/>
              </a:prstGeom>
              <a:blipFill>
                <a:blip r:embed="rIdEq2"/>
                <a:stretch>
                  <a:fillRect/>
                </a:stretch>
              </a:blipFill>
              <a:ln>
                <a:noFill/>
              </a:ln>
            </p:spPr>
            <p:txBody>
              <a:bodyPr wrap="square" lIns="0" tIns="0" rIns="0" bIns="0" rtlCol="0" anchor="t"/>
              <a:lstStyle/>
              <a:p>
                <a:endParaRPr lang="es-CO"/>
              </a:p>
            </p:txBody>
          </p:sp>
        </mc:Fallback>
      </mc:AlternateContent>
      <p:sp>
        <p:nvSpPr>
          <p:cNvPr id="33" name="Text 31"/>
          <p:cNvSpPr/>
          <p:nvPr/>
        </p:nvSpPr>
        <p:spPr>
          <a:xfrm>
            <a:off x="5760720" y="5394960"/>
            <a:ext cx="5212080" cy="685800"/>
          </a:xfrm>
          <a:prstGeom prst="rect">
            <a:avLst/>
          </a:prstGeom>
          <a:noFill/>
          <a:ln/>
        </p:spPr>
        <p:txBody>
          <a:bodyPr wrap="square" lIns="0" tIns="0" rIns="0" bIns="0" rtlCol="0" anchor="t"/>
          <a:lstStyle/>
          <a:p>
            <a:pPr marL="0" indent="0">
              <a:buNone/>
            </a:pPr>
            <a:r>
              <a:rPr lang="en-US" sz="2000" dirty="0">
                <a:solidFill>
                  <a:srgbClr val="50565C"/>
                </a:solidFill>
                <a:latin typeface="Calibri" pitchFamily="34" charset="0"/>
                <a:ea typeface="Calibri" pitchFamily="34" charset="-122"/>
                <a:cs typeface="Calibri" pitchFamily="34" charset="-120"/>
              </a:rPr>
              <a:t>El puntaje resume cuánto se alinea</a:t>
            </a:r>
            <a:endParaRPr lang="en-US" sz="2000" dirty="0"/>
          </a:p>
          <a:p>
            <a:pPr marL="0" indent="0">
              <a:buNone/>
            </a:pPr>
            <a:r>
              <a:rPr lang="en-US" sz="2000" dirty="0">
                <a:solidFill>
                  <a:srgbClr val="50565C"/>
                </a:solidFill>
                <a:latin typeface="Calibri" pitchFamily="34" charset="0"/>
                <a:ea typeface="Calibri" pitchFamily="34" charset="-122"/>
                <a:cs typeface="Calibri" pitchFamily="34" charset="-120"/>
              </a:rPr>
              <a:t>una entrada con esa dirección.</a:t>
            </a:r>
            <a:endParaRPr lang="en-US" sz="2000" dirty="0"/>
          </a:p>
        </p:txBody>
      </p:sp>
      <p:sp>
        <p:nvSpPr>
          <p:cNvPr id="34" name="Text 32"/>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μD y μB: promedios; x: representación interna; r̂: dirección normalizada; p: puntaje. El esquema no muestra activaciones medidas.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Cómo se evaluó</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La señal debe funcionar con ejemplos que el ajuste no vio</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07</a:t>
            </a:r>
            <a:endParaRPr lang="en-US" sz="1100" dirty="0"/>
          </a:p>
        </p:txBody>
      </p:sp>
      <p:sp>
        <p:nvSpPr>
          <p:cNvPr id="6" name="Text 4"/>
          <p:cNvSpPr/>
          <p:nvPr/>
        </p:nvSpPr>
        <p:spPr>
          <a:xfrm>
            <a:off x="621792" y="2057400"/>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621792" y="2468880"/>
            <a:ext cx="3474720" cy="91440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Estimar con</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unos pares</a:t>
            </a:r>
            <a:endParaRPr lang="en-US" sz="2700" dirty="0"/>
          </a:p>
        </p:txBody>
      </p:sp>
      <p:sp>
        <p:nvSpPr>
          <p:cNvPr id="8" name="Shape 6"/>
          <p:cNvSpPr/>
          <p:nvPr/>
        </p:nvSpPr>
        <p:spPr>
          <a:xfrm>
            <a:off x="3547872" y="2834640"/>
            <a:ext cx="640080" cy="91"/>
          </a:xfrm>
          <a:prstGeom prst="line">
            <a:avLst/>
          </a:prstGeom>
          <a:noFill/>
          <a:ln w="22860">
            <a:solidFill>
              <a:srgbClr val="70777D"/>
            </a:solidFill>
            <a:prstDash val="solid"/>
            <a:headEnd type="none"/>
            <a:tailEnd type="triangle"/>
          </a:ln>
        </p:spPr>
      </p:sp>
      <p:sp>
        <p:nvSpPr>
          <p:cNvPr id="9" name="Text 7"/>
          <p:cNvSpPr/>
          <p:nvPr/>
        </p:nvSpPr>
        <p:spPr>
          <a:xfrm>
            <a:off x="4416552" y="2057400"/>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4416552" y="2468880"/>
            <a:ext cx="3474720" cy="91440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Evaluar con</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otros pares</a:t>
            </a:r>
            <a:endParaRPr lang="en-US" sz="2700" dirty="0"/>
          </a:p>
        </p:txBody>
      </p:sp>
      <p:sp>
        <p:nvSpPr>
          <p:cNvPr id="11" name="Shape 9"/>
          <p:cNvSpPr/>
          <p:nvPr/>
        </p:nvSpPr>
        <p:spPr>
          <a:xfrm>
            <a:off x="7342632" y="2834640"/>
            <a:ext cx="640080" cy="91"/>
          </a:xfrm>
          <a:prstGeom prst="line">
            <a:avLst/>
          </a:prstGeom>
          <a:noFill/>
          <a:ln w="22860">
            <a:solidFill>
              <a:srgbClr val="70777D"/>
            </a:solidFill>
            <a:prstDash val="solid"/>
            <a:headEnd type="none"/>
            <a:tailEnd type="triangle"/>
          </a:ln>
        </p:spPr>
      </p:sp>
      <p:sp>
        <p:nvSpPr>
          <p:cNvPr id="12" name="Text 10"/>
          <p:cNvSpPr/>
          <p:nvPr/>
        </p:nvSpPr>
        <p:spPr>
          <a:xfrm>
            <a:off x="8211312" y="2057400"/>
            <a:ext cx="10972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03</a:t>
            </a:r>
            <a:endParaRPr lang="en-US" sz="1200" dirty="0"/>
          </a:p>
        </p:txBody>
      </p:sp>
      <p:sp>
        <p:nvSpPr>
          <p:cNvPr id="13" name="Text 11"/>
          <p:cNvSpPr/>
          <p:nvPr/>
        </p:nvSpPr>
        <p:spPr>
          <a:xfrm>
            <a:off x="8211312" y="2468880"/>
            <a:ext cx="3474720" cy="91440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Comparar chat</a:t>
            </a:r>
            <a:endParaRPr lang="en-US" sz="2700" dirty="0"/>
          </a:p>
          <a:p>
            <a:pPr marL="0" indent="0">
              <a:buNone/>
            </a:pPr>
            <a:r>
              <a:rPr lang="en-US" sz="2700" b="1" dirty="0">
                <a:solidFill>
                  <a:srgbClr val="26282A"/>
                </a:solidFill>
                <a:latin typeface="Calibri" pitchFamily="34" charset="0"/>
                <a:ea typeface="Calibri" pitchFamily="34" charset="-122"/>
                <a:cs typeface="Calibri" pitchFamily="34" charset="-120"/>
              </a:rPr>
              <a:t>y agente</a:t>
            </a:r>
            <a:endParaRPr lang="en-US" sz="2700" dirty="0"/>
          </a:p>
        </p:txBody>
      </p:sp>
      <p:sp>
        <p:nvSpPr>
          <p:cNvPr id="14" name="Shape 12"/>
          <p:cNvSpPr/>
          <p:nvPr/>
        </p:nvSpPr>
        <p:spPr>
          <a:xfrm>
            <a:off x="621792" y="3749040"/>
            <a:ext cx="10948111" cy="91"/>
          </a:xfrm>
          <a:prstGeom prst="line">
            <a:avLst/>
          </a:prstGeom>
          <a:noFill/>
          <a:ln w="12700">
            <a:solidFill>
              <a:srgbClr val="D9DDE0"/>
            </a:solidFill>
            <a:prstDash val="solid"/>
          </a:ln>
        </p:spPr>
      </p:sp>
      <p:sp>
        <p:nvSpPr>
          <p:cNvPr id="15" name="Text 13"/>
          <p:cNvSpPr/>
          <p:nvPr/>
        </p:nvSpPr>
        <p:spPr>
          <a:xfrm>
            <a:off x="621792" y="4023360"/>
            <a:ext cx="10789920" cy="45720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AUROC: qué tan bien se ordenan las dos clases</a:t>
            </a:r>
            <a:endParaRPr lang="en-US" sz="2400" dirty="0"/>
          </a:p>
        </p:txBody>
      </p:sp>
      <p:sp>
        <p:nvSpPr>
          <p:cNvPr id="16" name="Shape 14"/>
          <p:cNvSpPr/>
          <p:nvPr/>
        </p:nvSpPr>
        <p:spPr>
          <a:xfrm>
            <a:off x="1005840" y="5166360"/>
            <a:ext cx="6126480" cy="91"/>
          </a:xfrm>
          <a:prstGeom prst="line">
            <a:avLst/>
          </a:prstGeom>
          <a:noFill/>
          <a:ln w="38100">
            <a:solidFill>
              <a:srgbClr val="D9DDE0"/>
            </a:solidFill>
            <a:prstDash val="solid"/>
          </a:ln>
        </p:spPr>
      </p:sp>
      <p:sp>
        <p:nvSpPr>
          <p:cNvPr id="17" name="Shape 15"/>
          <p:cNvSpPr/>
          <p:nvPr/>
        </p:nvSpPr>
        <p:spPr>
          <a:xfrm>
            <a:off x="5806440" y="5065776"/>
            <a:ext cx="201168" cy="201168"/>
          </a:xfrm>
          <a:prstGeom prst="ellipse">
            <a:avLst/>
          </a:prstGeom>
          <a:solidFill>
            <a:srgbClr val="9B743E"/>
          </a:solidFill>
          <a:ln w="6350">
            <a:solidFill>
              <a:srgbClr val="9B743E"/>
            </a:solidFill>
            <a:prstDash val="solid"/>
          </a:ln>
        </p:spPr>
      </p:sp>
      <p:sp>
        <p:nvSpPr>
          <p:cNvPr id="18" name="Text 16"/>
          <p:cNvSpPr/>
          <p:nvPr/>
        </p:nvSpPr>
        <p:spPr>
          <a:xfrm>
            <a:off x="640080" y="5440680"/>
            <a:ext cx="1097280" cy="640080"/>
          </a:xfrm>
          <a:prstGeom prst="rect">
            <a:avLst/>
          </a:prstGeom>
          <a:noFill/>
          <a:ln/>
        </p:spPr>
        <p:txBody>
          <a:bodyPr wrap="square" lIns="0" tIns="0" rIns="0" bIns="0" rtlCol="0" anchor="t"/>
          <a:lstStyle/>
          <a:p>
            <a:pPr marL="0" indent="0" algn="ctr">
              <a:buNone/>
            </a:pPr>
            <a:r>
              <a:rPr lang="en-US" sz="1800" dirty="0">
                <a:solidFill>
                  <a:srgbClr val="26282A"/>
                </a:solidFill>
                <a:latin typeface="Calibri" pitchFamily="34" charset="0"/>
                <a:ea typeface="Calibri" pitchFamily="34" charset="-122"/>
                <a:cs typeface="Calibri" pitchFamily="34" charset="-120"/>
              </a:rPr>
              <a:t>0,5</a:t>
            </a:r>
            <a:endParaRPr lang="en-US" sz="1800" dirty="0"/>
          </a:p>
          <a:p>
            <a:pPr marL="0" indent="0" algn="ctr">
              <a:buNone/>
            </a:pPr>
            <a:r>
              <a:rPr lang="en-US" sz="1800" dirty="0">
                <a:solidFill>
                  <a:srgbClr val="26282A"/>
                </a:solidFill>
                <a:latin typeface="Calibri" pitchFamily="34" charset="0"/>
                <a:ea typeface="Calibri" pitchFamily="34" charset="-122"/>
                <a:cs typeface="Calibri" pitchFamily="34" charset="-120"/>
              </a:rPr>
              <a:t>Azar</a:t>
            </a:r>
            <a:endParaRPr lang="en-US" sz="1800" dirty="0"/>
          </a:p>
        </p:txBody>
      </p:sp>
      <p:sp>
        <p:nvSpPr>
          <p:cNvPr id="19" name="Text 17"/>
          <p:cNvSpPr/>
          <p:nvPr/>
        </p:nvSpPr>
        <p:spPr>
          <a:xfrm>
            <a:off x="6400800" y="5440680"/>
            <a:ext cx="1645920" cy="640080"/>
          </a:xfrm>
          <a:prstGeom prst="rect">
            <a:avLst/>
          </a:prstGeom>
          <a:noFill/>
          <a:ln/>
        </p:spPr>
        <p:txBody>
          <a:bodyPr wrap="square" lIns="0" tIns="0" rIns="0" bIns="0" rtlCol="0" anchor="t"/>
          <a:lstStyle/>
          <a:p>
            <a:pPr marL="0" indent="0" algn="ctr">
              <a:buNone/>
            </a:pPr>
            <a:r>
              <a:rPr lang="en-US" sz="1800" dirty="0">
                <a:solidFill>
                  <a:srgbClr val="26282A"/>
                </a:solidFill>
                <a:latin typeface="Calibri" pitchFamily="34" charset="0"/>
                <a:ea typeface="Calibri" pitchFamily="34" charset="-122"/>
                <a:cs typeface="Calibri" pitchFamily="34" charset="-120"/>
              </a:rPr>
              <a:t>1,0</a:t>
            </a:r>
            <a:endParaRPr lang="en-US" sz="1800" dirty="0"/>
          </a:p>
          <a:p>
            <a:pPr marL="0" indent="0" algn="ctr">
              <a:buNone/>
            </a:pPr>
            <a:r>
              <a:rPr lang="en-US" sz="1800" dirty="0">
                <a:solidFill>
                  <a:srgbClr val="26282A"/>
                </a:solidFill>
                <a:latin typeface="Calibri" pitchFamily="34" charset="0"/>
                <a:ea typeface="Calibri" pitchFamily="34" charset="-122"/>
                <a:cs typeface="Calibri" pitchFamily="34" charset="-120"/>
              </a:rPr>
              <a:t>Orden perfecto</a:t>
            </a:r>
            <a:endParaRPr lang="en-US" sz="1800" dirty="0"/>
          </a:p>
        </p:txBody>
      </p:sp>
      <p:sp>
        <p:nvSpPr>
          <p:cNvPr id="20" name="Text 18"/>
          <p:cNvSpPr/>
          <p:nvPr/>
        </p:nvSpPr>
        <p:spPr>
          <a:xfrm>
            <a:off x="5541264" y="4663440"/>
            <a:ext cx="731520" cy="365760"/>
          </a:xfrm>
          <a:prstGeom prst="rect">
            <a:avLst/>
          </a:prstGeom>
          <a:noFill/>
          <a:ln/>
        </p:spPr>
        <p:txBody>
          <a:bodyPr wrap="square" lIns="0" tIns="0" rIns="0" bIns="0" rtlCol="0" anchor="t"/>
          <a:lstStyle/>
          <a:p>
            <a:pPr marL="0" indent="0" algn="ctr">
              <a:buNone/>
            </a:pPr>
            <a:r>
              <a:rPr lang="en-US" sz="2400" b="1" dirty="0">
                <a:solidFill>
                  <a:srgbClr val="9B743E"/>
                </a:solidFill>
                <a:latin typeface="Calibri" pitchFamily="34" charset="0"/>
                <a:ea typeface="Calibri" pitchFamily="34" charset="-122"/>
                <a:cs typeface="Calibri" pitchFamily="34" charset="-120"/>
              </a:rPr>
              <a:t>0,9</a:t>
            </a:r>
            <a:endParaRPr lang="en-US" sz="2400" dirty="0"/>
          </a:p>
        </p:txBody>
      </p:sp>
      <p:sp>
        <p:nvSpPr>
          <p:cNvPr id="21" name="Text 19"/>
          <p:cNvSpPr/>
          <p:nvPr/>
        </p:nvSpPr>
        <p:spPr>
          <a:xfrm>
            <a:off x="8229600" y="4681728"/>
            <a:ext cx="3246120" cy="1143000"/>
          </a:xfrm>
          <a:prstGeom prst="rect">
            <a:avLst/>
          </a:prstGeom>
          <a:noFill/>
          <a:ln/>
        </p:spPr>
        <p:txBody>
          <a:bodyPr wrap="square" lIns="0" tIns="0" rIns="0" bIns="0" rtlCol="0" anchor="t"/>
          <a:lstStyle/>
          <a:p>
            <a:pPr marL="0" indent="0">
              <a:buNone/>
            </a:pPr>
            <a:r>
              <a:rPr lang="en-US" sz="2100" dirty="0">
                <a:solidFill>
                  <a:srgbClr val="26282A"/>
                </a:solidFill>
                <a:latin typeface="Calibri" pitchFamily="34" charset="0"/>
                <a:ea typeface="Calibri" pitchFamily="34" charset="-122"/>
                <a:cs typeface="Calibri" pitchFamily="34" charset="-120"/>
              </a:rPr>
              <a:t>Cerca de 9 de cada 10 comparaciones dañina–benigna quedan bien ordenadas.</a:t>
            </a:r>
            <a:endParaRPr lang="en-US" sz="2100" dirty="0"/>
          </a:p>
        </p:txBody>
      </p:sp>
      <p:sp>
        <p:nvSpPr>
          <p:cNvPr id="22" name="Text 20"/>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La AUROC evalúa el orden entre puntajes; no es un porcentaje de clasificaciones correctas con un umbral.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Resultado 1 · conducta</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En Llama, el rechazo disminuye al cambiar el formato</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08</a:t>
            </a:r>
            <a:endParaRPr lang="en-US" sz="1100" dirty="0"/>
          </a:p>
        </p:txBody>
      </p:sp>
      <p:sp>
        <p:nvSpPr>
          <p:cNvPr id="6" name="Text 4"/>
          <p:cNvSpPr/>
          <p:nvPr/>
        </p:nvSpPr>
        <p:spPr>
          <a:xfrm>
            <a:off x="621792" y="1965960"/>
            <a:ext cx="1078992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Solicitudes dañinas etiquetadas como rechazadas</a:t>
            </a:r>
            <a:endParaRPr lang="en-US" sz="1200" dirty="0"/>
          </a:p>
        </p:txBody>
      </p:sp>
      <p:sp>
        <p:nvSpPr>
          <p:cNvPr id="7" name="Text 5"/>
          <p:cNvSpPr/>
          <p:nvPr/>
        </p:nvSpPr>
        <p:spPr>
          <a:xfrm>
            <a:off x="1005840" y="2423160"/>
            <a:ext cx="4297680" cy="457200"/>
          </a:xfrm>
          <a:prstGeom prst="rect">
            <a:avLst/>
          </a:prstGeom>
          <a:noFill/>
          <a:ln/>
        </p:spPr>
        <p:txBody>
          <a:bodyPr wrap="square" lIns="0" tIns="0" rIns="0" bIns="0" rtlCol="0" anchor="t"/>
          <a:lstStyle/>
          <a:p>
            <a:pPr marL="0" indent="0">
              <a:buNone/>
            </a:pPr>
            <a:r>
              <a:rPr lang="en-US" sz="2600" b="1" dirty="0">
                <a:solidFill>
                  <a:srgbClr val="26282A"/>
                </a:solidFill>
                <a:latin typeface="Calibri" pitchFamily="34" charset="0"/>
                <a:ea typeface="Calibri" pitchFamily="34" charset="-122"/>
                <a:cs typeface="Calibri" pitchFamily="34" charset="-120"/>
              </a:rPr>
              <a:t>En chat</a:t>
            </a:r>
            <a:endParaRPr lang="en-US" sz="2600" dirty="0"/>
          </a:p>
        </p:txBody>
      </p:sp>
      <p:sp>
        <p:nvSpPr>
          <p:cNvPr id="8" name="Text 6"/>
          <p:cNvSpPr/>
          <p:nvPr/>
        </p:nvSpPr>
        <p:spPr>
          <a:xfrm>
            <a:off x="1005840" y="3017520"/>
            <a:ext cx="4297680" cy="1097280"/>
          </a:xfrm>
          <a:prstGeom prst="rect">
            <a:avLst/>
          </a:prstGeom>
          <a:noFill/>
          <a:ln/>
        </p:spPr>
        <p:txBody>
          <a:bodyPr wrap="square" lIns="0" tIns="0" rIns="0" bIns="0" rtlCol="0" anchor="t"/>
          <a:lstStyle/>
          <a:p>
            <a:pPr marL="0" indent="0">
              <a:buNone/>
            </a:pPr>
            <a:r>
              <a:rPr lang="en-US" sz="7200" b="1" dirty="0">
                <a:solidFill>
                  <a:srgbClr val="26282A"/>
                </a:solidFill>
                <a:latin typeface="Calibri" pitchFamily="34" charset="0"/>
                <a:ea typeface="Calibri" pitchFamily="34" charset="-122"/>
                <a:cs typeface="Calibri" pitchFamily="34" charset="-120"/>
              </a:rPr>
              <a:t>38/42</a:t>
            </a:r>
            <a:endParaRPr lang="en-US" sz="7200" dirty="0"/>
          </a:p>
        </p:txBody>
      </p:sp>
      <p:sp>
        <p:nvSpPr>
          <p:cNvPr id="9" name="Shape 7"/>
          <p:cNvSpPr/>
          <p:nvPr/>
        </p:nvSpPr>
        <p:spPr>
          <a:xfrm>
            <a:off x="1005840" y="4389120"/>
            <a:ext cx="4114800" cy="173736"/>
          </a:xfrm>
          <a:prstGeom prst="rect">
            <a:avLst/>
          </a:prstGeom>
          <a:solidFill>
            <a:srgbClr val="F1F3F4"/>
          </a:solidFill>
          <a:ln w="12700">
            <a:solidFill>
              <a:srgbClr val="F1F3F4">
                <a:alpha val="0"/>
              </a:srgbClr>
            </a:solidFill>
            <a:prstDash val="solid"/>
          </a:ln>
        </p:spPr>
      </p:sp>
      <p:sp>
        <p:nvSpPr>
          <p:cNvPr id="10" name="Shape 8"/>
          <p:cNvSpPr/>
          <p:nvPr/>
        </p:nvSpPr>
        <p:spPr>
          <a:xfrm>
            <a:off x="1005840" y="4389120"/>
            <a:ext cx="3722914" cy="173736"/>
          </a:xfrm>
          <a:prstGeom prst="rect">
            <a:avLst/>
          </a:prstGeom>
          <a:solidFill>
            <a:srgbClr val="26282A"/>
          </a:solidFill>
          <a:ln w="12700">
            <a:solidFill>
              <a:srgbClr val="26282A">
                <a:alpha val="0"/>
              </a:srgbClr>
            </a:solidFill>
            <a:prstDash val="solid"/>
          </a:ln>
        </p:spPr>
      </p:sp>
      <p:sp>
        <p:nvSpPr>
          <p:cNvPr id="11" name="Text 9"/>
          <p:cNvSpPr/>
          <p:nvPr/>
        </p:nvSpPr>
        <p:spPr>
          <a:xfrm>
            <a:off x="1005840" y="4690872"/>
            <a:ext cx="4114800" cy="411480"/>
          </a:xfrm>
          <a:prstGeom prst="rect">
            <a:avLst/>
          </a:prstGeom>
          <a:noFill/>
          <a:ln/>
        </p:spPr>
        <p:txBody>
          <a:bodyPr wrap="square" lIns="0" tIns="0" rIns="0" bIns="0" rtlCol="0" anchor="t"/>
          <a:lstStyle/>
          <a:p>
            <a:pPr marL="0" indent="0">
              <a:buNone/>
            </a:pPr>
            <a:r>
              <a:rPr lang="en-US" sz="2300" dirty="0">
                <a:solidFill>
                  <a:srgbClr val="26282A"/>
                </a:solidFill>
                <a:latin typeface="Calibri" pitchFamily="34" charset="0"/>
                <a:ea typeface="Calibri" pitchFamily="34" charset="-122"/>
                <a:cs typeface="Calibri" pitchFamily="34" charset="-120"/>
              </a:rPr>
              <a:t>90,5 %</a:t>
            </a:r>
            <a:endParaRPr lang="en-US" sz="2300" dirty="0"/>
          </a:p>
        </p:txBody>
      </p:sp>
      <p:sp>
        <p:nvSpPr>
          <p:cNvPr id="12" name="Text 10"/>
          <p:cNvSpPr/>
          <p:nvPr/>
        </p:nvSpPr>
        <p:spPr>
          <a:xfrm>
            <a:off x="6858000" y="2423160"/>
            <a:ext cx="4297680" cy="457200"/>
          </a:xfrm>
          <a:prstGeom prst="rect">
            <a:avLst/>
          </a:prstGeom>
          <a:noFill/>
          <a:ln/>
        </p:spPr>
        <p:txBody>
          <a:bodyPr wrap="square" lIns="0" tIns="0" rIns="0" bIns="0" rtlCol="0" anchor="t"/>
          <a:lstStyle/>
          <a:p>
            <a:pPr marL="0" indent="0">
              <a:buNone/>
            </a:pPr>
            <a:r>
              <a:rPr lang="en-US" sz="2600" b="1" dirty="0">
                <a:solidFill>
                  <a:srgbClr val="A14F3D"/>
                </a:solidFill>
                <a:latin typeface="Calibri" pitchFamily="34" charset="0"/>
                <a:ea typeface="Calibri" pitchFamily="34" charset="-122"/>
                <a:cs typeface="Calibri" pitchFamily="34" charset="-120"/>
              </a:rPr>
              <a:t>Con formato agéntico</a:t>
            </a:r>
            <a:endParaRPr lang="en-US" sz="2600" dirty="0"/>
          </a:p>
        </p:txBody>
      </p:sp>
      <p:sp>
        <p:nvSpPr>
          <p:cNvPr id="13" name="Text 11"/>
          <p:cNvSpPr/>
          <p:nvPr/>
        </p:nvSpPr>
        <p:spPr>
          <a:xfrm>
            <a:off x="6858000" y="3017520"/>
            <a:ext cx="4297680" cy="1097280"/>
          </a:xfrm>
          <a:prstGeom prst="rect">
            <a:avLst/>
          </a:prstGeom>
          <a:noFill/>
          <a:ln/>
        </p:spPr>
        <p:txBody>
          <a:bodyPr wrap="square" lIns="0" tIns="0" rIns="0" bIns="0" rtlCol="0" anchor="t"/>
          <a:lstStyle/>
          <a:p>
            <a:pPr marL="0" indent="0">
              <a:buNone/>
            </a:pPr>
            <a:r>
              <a:rPr lang="en-US" sz="7200" b="1" dirty="0">
                <a:solidFill>
                  <a:srgbClr val="A14F3D"/>
                </a:solidFill>
                <a:latin typeface="Calibri" pitchFamily="34" charset="0"/>
                <a:ea typeface="Calibri" pitchFamily="34" charset="-122"/>
                <a:cs typeface="Calibri" pitchFamily="34" charset="-120"/>
              </a:rPr>
              <a:t>23/42</a:t>
            </a:r>
            <a:endParaRPr lang="en-US" sz="7200" dirty="0"/>
          </a:p>
        </p:txBody>
      </p:sp>
      <p:sp>
        <p:nvSpPr>
          <p:cNvPr id="14" name="Shape 12"/>
          <p:cNvSpPr/>
          <p:nvPr/>
        </p:nvSpPr>
        <p:spPr>
          <a:xfrm>
            <a:off x="6858000" y="4389120"/>
            <a:ext cx="4114800" cy="173736"/>
          </a:xfrm>
          <a:prstGeom prst="rect">
            <a:avLst/>
          </a:prstGeom>
          <a:solidFill>
            <a:srgbClr val="F1F3F4"/>
          </a:solidFill>
          <a:ln w="12700">
            <a:solidFill>
              <a:srgbClr val="F1F3F4">
                <a:alpha val="0"/>
              </a:srgbClr>
            </a:solidFill>
            <a:prstDash val="solid"/>
          </a:ln>
        </p:spPr>
      </p:sp>
      <p:sp>
        <p:nvSpPr>
          <p:cNvPr id="15" name="Shape 13"/>
          <p:cNvSpPr/>
          <p:nvPr/>
        </p:nvSpPr>
        <p:spPr>
          <a:xfrm>
            <a:off x="6858000" y="4389120"/>
            <a:ext cx="2253343" cy="173736"/>
          </a:xfrm>
          <a:prstGeom prst="rect">
            <a:avLst/>
          </a:prstGeom>
          <a:solidFill>
            <a:srgbClr val="A14F3D"/>
          </a:solidFill>
          <a:ln w="12700">
            <a:solidFill>
              <a:srgbClr val="A14F3D">
                <a:alpha val="0"/>
              </a:srgbClr>
            </a:solidFill>
            <a:prstDash val="solid"/>
          </a:ln>
        </p:spPr>
      </p:sp>
      <p:sp>
        <p:nvSpPr>
          <p:cNvPr id="16" name="Text 14"/>
          <p:cNvSpPr/>
          <p:nvPr/>
        </p:nvSpPr>
        <p:spPr>
          <a:xfrm>
            <a:off x="6858000" y="4690872"/>
            <a:ext cx="4114800" cy="411480"/>
          </a:xfrm>
          <a:prstGeom prst="rect">
            <a:avLst/>
          </a:prstGeom>
          <a:noFill/>
          <a:ln/>
        </p:spPr>
        <p:txBody>
          <a:bodyPr wrap="square" lIns="0" tIns="0" rIns="0" bIns="0" rtlCol="0" anchor="t"/>
          <a:lstStyle/>
          <a:p>
            <a:pPr marL="0" indent="0">
              <a:buNone/>
            </a:pPr>
            <a:r>
              <a:rPr lang="en-US" sz="2300" dirty="0">
                <a:solidFill>
                  <a:srgbClr val="A14F3D"/>
                </a:solidFill>
                <a:latin typeface="Calibri" pitchFamily="34" charset="0"/>
                <a:ea typeface="Calibri" pitchFamily="34" charset="-122"/>
                <a:cs typeface="Calibri" pitchFamily="34" charset="-120"/>
              </a:rPr>
              <a:t>54,8 %</a:t>
            </a:r>
            <a:endParaRPr lang="en-US" sz="2300" dirty="0"/>
          </a:p>
        </p:txBody>
      </p:sp>
      <p:sp>
        <p:nvSpPr>
          <p:cNvPr id="17" name="Shape 15"/>
          <p:cNvSpPr/>
          <p:nvPr/>
        </p:nvSpPr>
        <p:spPr>
          <a:xfrm>
            <a:off x="5349240" y="3611880"/>
            <a:ext cx="914400" cy="91"/>
          </a:xfrm>
          <a:prstGeom prst="line">
            <a:avLst/>
          </a:prstGeom>
          <a:noFill/>
          <a:ln w="25400">
            <a:solidFill>
              <a:srgbClr val="70777D"/>
            </a:solidFill>
            <a:prstDash val="solid"/>
            <a:headEnd type="none"/>
            <a:tailEnd type="triangle"/>
          </a:ln>
        </p:spPr>
      </p:sp>
      <p:sp>
        <p:nvSpPr>
          <p:cNvPr id="18" name="Text 16"/>
          <p:cNvSpPr/>
          <p:nvPr/>
        </p:nvSpPr>
        <p:spPr>
          <a:xfrm>
            <a:off x="621792" y="5532120"/>
            <a:ext cx="10789920" cy="50292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Mismo modelo y mismas solicitudes; cambió el formato.</a:t>
            </a:r>
            <a:endParaRPr lang="en-US" sz="2500" dirty="0"/>
          </a:p>
        </p:txBody>
      </p:sp>
      <p:sp>
        <p:nvSpPr>
          <p:cNvPr id="19" name="Text 17"/>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Llama V3 · 42 pares. Etiquetado conductual heurístico, pendiente de auditoría humana. Fuente: metricas_avance.json → llama.behavior.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Resultado 2 · detección</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La señal persiste, con menos separación en agente</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09</a:t>
            </a:r>
            <a:endParaRPr lang="en-US" sz="1100" dirty="0"/>
          </a:p>
        </p:txBody>
      </p:sp>
      <p:sp>
        <p:nvSpPr>
          <p:cNvPr id="6" name="Text 4"/>
          <p:cNvSpPr/>
          <p:nvPr/>
        </p:nvSpPr>
        <p:spPr>
          <a:xfrm>
            <a:off x="7406640" y="1874520"/>
            <a:ext cx="3840480" cy="274320"/>
          </a:xfrm>
          <a:prstGeom prst="rect">
            <a:avLst/>
          </a:prstGeom>
          <a:noFill/>
          <a:ln/>
        </p:spPr>
        <p:txBody>
          <a:bodyPr wrap="square" lIns="0" tIns="0" rIns="0" bIns="0" rtlCol="0" anchor="t"/>
          <a:lstStyle/>
          <a:p>
            <a:pPr marL="0" indent="0" algn="r">
              <a:buNone/>
            </a:pPr>
            <a:r>
              <a:rPr lang="en-US" sz="1700" dirty="0">
                <a:solidFill>
                  <a:srgbClr val="26282A"/>
                </a:solidFill>
                <a:latin typeface="Calibri" pitchFamily="34" charset="0"/>
                <a:ea typeface="Calibri" pitchFamily="34" charset="-122"/>
                <a:cs typeface="Calibri" pitchFamily="34" charset="-120"/>
              </a:rPr>
              <a:t>● chat     </a:t>
            </a:r>
            <a:r>
              <a:rPr lang="en-US" sz="1700" dirty="0">
                <a:solidFill>
                  <a:srgbClr val="9B743E"/>
                </a:solidFill>
                <a:latin typeface="Calibri" pitchFamily="34" charset="0"/>
                <a:ea typeface="Calibri" pitchFamily="34" charset="-122"/>
                <a:cs typeface="Calibri" pitchFamily="34" charset="-120"/>
              </a:rPr>
              <a:t>● </a:t>
            </a:r>
            <a:r>
              <a:rPr lang="en-US" sz="1700" dirty="0">
                <a:solidFill>
                  <a:srgbClr val="26282A"/>
                </a:solidFill>
                <a:latin typeface="Calibri" pitchFamily="34" charset="0"/>
                <a:ea typeface="Calibri" pitchFamily="34" charset="-122"/>
                <a:cs typeface="Calibri" pitchFamily="34" charset="-120"/>
              </a:rPr>
              <a:t>agente</a:t>
            </a:r>
            <a:endParaRPr lang="en-US" sz="1700" dirty="0"/>
          </a:p>
        </p:txBody>
      </p:sp>
      <p:sp>
        <p:nvSpPr>
          <p:cNvPr id="7" name="Shape 5"/>
          <p:cNvSpPr/>
          <p:nvPr/>
        </p:nvSpPr>
        <p:spPr>
          <a:xfrm>
            <a:off x="3749040" y="2377440"/>
            <a:ext cx="91" cy="2606040"/>
          </a:xfrm>
          <a:prstGeom prst="line">
            <a:avLst/>
          </a:prstGeom>
          <a:noFill/>
          <a:ln w="8890">
            <a:solidFill>
              <a:srgbClr val="D9DDE0"/>
            </a:solidFill>
            <a:prstDash val="solid"/>
          </a:ln>
        </p:spPr>
      </p:sp>
      <p:sp>
        <p:nvSpPr>
          <p:cNvPr id="8" name="Text 6"/>
          <p:cNvSpPr/>
          <p:nvPr/>
        </p:nvSpPr>
        <p:spPr>
          <a:xfrm>
            <a:off x="347472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0,5</a:t>
            </a:r>
            <a:endParaRPr lang="en-US" sz="1500" dirty="0"/>
          </a:p>
        </p:txBody>
      </p:sp>
      <p:sp>
        <p:nvSpPr>
          <p:cNvPr id="9" name="Shape 7"/>
          <p:cNvSpPr/>
          <p:nvPr/>
        </p:nvSpPr>
        <p:spPr>
          <a:xfrm>
            <a:off x="5212080" y="2377440"/>
            <a:ext cx="91" cy="2606040"/>
          </a:xfrm>
          <a:prstGeom prst="line">
            <a:avLst/>
          </a:prstGeom>
          <a:noFill/>
          <a:ln w="8890">
            <a:solidFill>
              <a:srgbClr val="D9DDE0"/>
            </a:solidFill>
            <a:prstDash val="solid"/>
          </a:ln>
        </p:spPr>
      </p:sp>
      <p:sp>
        <p:nvSpPr>
          <p:cNvPr id="10" name="Text 8"/>
          <p:cNvSpPr/>
          <p:nvPr/>
        </p:nvSpPr>
        <p:spPr>
          <a:xfrm>
            <a:off x="493776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0,6</a:t>
            </a:r>
            <a:endParaRPr lang="en-US" sz="1500" dirty="0"/>
          </a:p>
        </p:txBody>
      </p:sp>
      <p:sp>
        <p:nvSpPr>
          <p:cNvPr id="11" name="Shape 9"/>
          <p:cNvSpPr/>
          <p:nvPr/>
        </p:nvSpPr>
        <p:spPr>
          <a:xfrm>
            <a:off x="6675120" y="2377440"/>
            <a:ext cx="91" cy="2606040"/>
          </a:xfrm>
          <a:prstGeom prst="line">
            <a:avLst/>
          </a:prstGeom>
          <a:noFill/>
          <a:ln w="8890">
            <a:solidFill>
              <a:srgbClr val="D9DDE0"/>
            </a:solidFill>
            <a:prstDash val="solid"/>
          </a:ln>
        </p:spPr>
      </p:sp>
      <p:sp>
        <p:nvSpPr>
          <p:cNvPr id="12" name="Text 10"/>
          <p:cNvSpPr/>
          <p:nvPr/>
        </p:nvSpPr>
        <p:spPr>
          <a:xfrm>
            <a:off x="640080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0,7</a:t>
            </a:r>
            <a:endParaRPr lang="en-US" sz="1500" dirty="0"/>
          </a:p>
        </p:txBody>
      </p:sp>
      <p:sp>
        <p:nvSpPr>
          <p:cNvPr id="13" name="Shape 11"/>
          <p:cNvSpPr/>
          <p:nvPr/>
        </p:nvSpPr>
        <p:spPr>
          <a:xfrm>
            <a:off x="8138160" y="2377440"/>
            <a:ext cx="91" cy="2606040"/>
          </a:xfrm>
          <a:prstGeom prst="line">
            <a:avLst/>
          </a:prstGeom>
          <a:noFill/>
          <a:ln w="8890">
            <a:solidFill>
              <a:srgbClr val="D9DDE0"/>
            </a:solidFill>
            <a:prstDash val="solid"/>
          </a:ln>
        </p:spPr>
      </p:sp>
      <p:sp>
        <p:nvSpPr>
          <p:cNvPr id="14" name="Text 12"/>
          <p:cNvSpPr/>
          <p:nvPr/>
        </p:nvSpPr>
        <p:spPr>
          <a:xfrm>
            <a:off x="786384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0,8</a:t>
            </a:r>
            <a:endParaRPr lang="en-US" sz="1500" dirty="0"/>
          </a:p>
        </p:txBody>
      </p:sp>
      <p:sp>
        <p:nvSpPr>
          <p:cNvPr id="15" name="Shape 13"/>
          <p:cNvSpPr/>
          <p:nvPr/>
        </p:nvSpPr>
        <p:spPr>
          <a:xfrm>
            <a:off x="9601200" y="2377440"/>
            <a:ext cx="91" cy="2606040"/>
          </a:xfrm>
          <a:prstGeom prst="line">
            <a:avLst/>
          </a:prstGeom>
          <a:noFill/>
          <a:ln w="8890">
            <a:solidFill>
              <a:srgbClr val="D9DDE0"/>
            </a:solidFill>
            <a:prstDash val="solid"/>
          </a:ln>
        </p:spPr>
      </p:sp>
      <p:sp>
        <p:nvSpPr>
          <p:cNvPr id="16" name="Text 14"/>
          <p:cNvSpPr/>
          <p:nvPr/>
        </p:nvSpPr>
        <p:spPr>
          <a:xfrm>
            <a:off x="932688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0,9</a:t>
            </a:r>
            <a:endParaRPr lang="en-US" sz="1500" dirty="0"/>
          </a:p>
        </p:txBody>
      </p:sp>
      <p:sp>
        <p:nvSpPr>
          <p:cNvPr id="17" name="Shape 15"/>
          <p:cNvSpPr/>
          <p:nvPr/>
        </p:nvSpPr>
        <p:spPr>
          <a:xfrm>
            <a:off x="11064240" y="2377440"/>
            <a:ext cx="91" cy="2606040"/>
          </a:xfrm>
          <a:prstGeom prst="line">
            <a:avLst/>
          </a:prstGeom>
          <a:noFill/>
          <a:ln w="8890">
            <a:solidFill>
              <a:srgbClr val="D9DDE0"/>
            </a:solidFill>
            <a:prstDash val="solid"/>
          </a:ln>
        </p:spPr>
      </p:sp>
      <p:sp>
        <p:nvSpPr>
          <p:cNvPr id="18" name="Text 16"/>
          <p:cNvSpPr/>
          <p:nvPr/>
        </p:nvSpPr>
        <p:spPr>
          <a:xfrm>
            <a:off x="10789920" y="5084064"/>
            <a:ext cx="548640" cy="274320"/>
          </a:xfrm>
          <a:prstGeom prst="rect">
            <a:avLst/>
          </a:prstGeom>
          <a:noFill/>
          <a:ln/>
        </p:spPr>
        <p:txBody>
          <a:bodyPr wrap="square" lIns="0" tIns="0" rIns="0" bIns="0" rtlCol="0" anchor="t"/>
          <a:lstStyle/>
          <a:p>
            <a:pPr marL="0" indent="0" algn="ctr">
              <a:buNone/>
            </a:pPr>
            <a:r>
              <a:rPr lang="en-US" sz="1500" dirty="0">
                <a:solidFill>
                  <a:srgbClr val="70777D"/>
                </a:solidFill>
                <a:latin typeface="Calibri" pitchFamily="34" charset="0"/>
                <a:ea typeface="Calibri" pitchFamily="34" charset="-122"/>
                <a:cs typeface="Calibri" pitchFamily="34" charset="-120"/>
              </a:rPr>
              <a:t>1,0</a:t>
            </a:r>
            <a:endParaRPr lang="en-US" sz="1500" dirty="0"/>
          </a:p>
        </p:txBody>
      </p:sp>
      <p:sp>
        <p:nvSpPr>
          <p:cNvPr id="19" name="Text 17"/>
          <p:cNvSpPr/>
          <p:nvPr/>
        </p:nvSpPr>
        <p:spPr>
          <a:xfrm>
            <a:off x="621792" y="2331720"/>
            <a:ext cx="2971800" cy="32004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Llama-3.3-70B</a:t>
            </a:r>
            <a:endParaRPr lang="en-US" sz="2100" dirty="0"/>
          </a:p>
        </p:txBody>
      </p:sp>
      <p:sp>
        <p:nvSpPr>
          <p:cNvPr id="20" name="Text 18"/>
          <p:cNvSpPr/>
          <p:nvPr/>
        </p:nvSpPr>
        <p:spPr>
          <a:xfrm>
            <a:off x="621792" y="2679192"/>
            <a:ext cx="2834640" cy="237744"/>
          </a:xfrm>
          <a:prstGeom prst="rect">
            <a:avLst/>
          </a:prstGeom>
          <a:noFill/>
          <a:ln/>
        </p:spPr>
        <p:txBody>
          <a:bodyPr wrap="square" lIns="0" tIns="0" rIns="0" bIns="0" rtlCol="0" anchor="t"/>
          <a:lstStyle/>
          <a:p>
            <a:pPr marL="0" indent="0">
              <a:buNone/>
            </a:pPr>
            <a:r>
              <a:rPr lang="en-US" sz="1400" dirty="0">
                <a:solidFill>
                  <a:srgbClr val="70777D"/>
                </a:solidFill>
                <a:latin typeface="Calibri" pitchFamily="34" charset="0"/>
                <a:ea typeface="Calibri" pitchFamily="34" charset="-122"/>
                <a:cs typeface="Calibri" pitchFamily="34" charset="-120"/>
              </a:rPr>
              <a:t>42 pares</a:t>
            </a:r>
            <a:endParaRPr lang="en-US" sz="1400" dirty="0"/>
          </a:p>
        </p:txBody>
      </p:sp>
      <p:sp>
        <p:nvSpPr>
          <p:cNvPr id="21" name="Shape 19"/>
          <p:cNvSpPr/>
          <p:nvPr/>
        </p:nvSpPr>
        <p:spPr>
          <a:xfrm>
            <a:off x="9886509" y="2514600"/>
            <a:ext cx="854269" cy="91"/>
          </a:xfrm>
          <a:prstGeom prst="line">
            <a:avLst/>
          </a:prstGeom>
          <a:noFill/>
          <a:ln w="50800">
            <a:solidFill>
              <a:srgbClr val="D9DDE0"/>
            </a:solidFill>
            <a:prstDash val="solid"/>
          </a:ln>
        </p:spPr>
      </p:sp>
      <p:sp>
        <p:nvSpPr>
          <p:cNvPr id="22" name="Shape 20"/>
          <p:cNvSpPr/>
          <p:nvPr/>
        </p:nvSpPr>
        <p:spPr>
          <a:xfrm>
            <a:off x="10663055" y="2436876"/>
            <a:ext cx="155448" cy="155448"/>
          </a:xfrm>
          <a:prstGeom prst="ellipse">
            <a:avLst/>
          </a:prstGeom>
          <a:solidFill>
            <a:srgbClr val="26282A"/>
          </a:solidFill>
          <a:ln w="6350">
            <a:solidFill>
              <a:srgbClr val="26282A"/>
            </a:solidFill>
            <a:prstDash val="solid"/>
          </a:ln>
        </p:spPr>
      </p:sp>
      <p:sp>
        <p:nvSpPr>
          <p:cNvPr id="23" name="Shape 21"/>
          <p:cNvSpPr/>
          <p:nvPr/>
        </p:nvSpPr>
        <p:spPr>
          <a:xfrm>
            <a:off x="9808785" y="2436876"/>
            <a:ext cx="155448" cy="155448"/>
          </a:xfrm>
          <a:prstGeom prst="ellipse">
            <a:avLst/>
          </a:prstGeom>
          <a:solidFill>
            <a:srgbClr val="9B743E"/>
          </a:solidFill>
          <a:ln w="6350">
            <a:solidFill>
              <a:srgbClr val="9B743E"/>
            </a:solidFill>
            <a:prstDash val="solid"/>
          </a:ln>
        </p:spPr>
      </p:sp>
      <p:sp>
        <p:nvSpPr>
          <p:cNvPr id="24" name="Text 22"/>
          <p:cNvSpPr/>
          <p:nvPr/>
        </p:nvSpPr>
        <p:spPr>
          <a:xfrm>
            <a:off x="10356731" y="2185416"/>
            <a:ext cx="768096" cy="256032"/>
          </a:xfrm>
          <a:prstGeom prst="rect">
            <a:avLst/>
          </a:prstGeom>
          <a:noFill/>
          <a:ln/>
        </p:spPr>
        <p:txBody>
          <a:bodyPr wrap="square" lIns="0" tIns="0" rIns="0" bIns="0" rtlCol="0" anchor="t"/>
          <a:lstStyle/>
          <a:p>
            <a:pPr marL="0" indent="0" algn="ctr">
              <a:buNone/>
            </a:pPr>
            <a:r>
              <a:rPr lang="en-US" sz="1600" dirty="0">
                <a:solidFill>
                  <a:srgbClr val="26282A"/>
                </a:solidFill>
                <a:latin typeface="Calibri" pitchFamily="34" charset="0"/>
                <a:ea typeface="Calibri" pitchFamily="34" charset="-122"/>
                <a:cs typeface="Calibri" pitchFamily="34" charset="-120"/>
              </a:rPr>
              <a:t>0,978</a:t>
            </a:r>
            <a:endParaRPr lang="en-US" sz="1600" dirty="0"/>
          </a:p>
        </p:txBody>
      </p:sp>
      <p:sp>
        <p:nvSpPr>
          <p:cNvPr id="25" name="Text 23"/>
          <p:cNvSpPr/>
          <p:nvPr/>
        </p:nvSpPr>
        <p:spPr>
          <a:xfrm>
            <a:off x="9502461" y="2624328"/>
            <a:ext cx="768096" cy="256032"/>
          </a:xfrm>
          <a:prstGeom prst="rect">
            <a:avLst/>
          </a:prstGeom>
          <a:noFill/>
          <a:ln/>
        </p:spPr>
        <p:txBody>
          <a:bodyPr wrap="square" lIns="0" tIns="0" rIns="0" bIns="0" rtlCol="0" anchor="t"/>
          <a:lstStyle/>
          <a:p>
            <a:pPr marL="0" indent="0" algn="ctr">
              <a:buNone/>
            </a:pPr>
            <a:r>
              <a:rPr lang="en-US" sz="1600" dirty="0">
                <a:solidFill>
                  <a:srgbClr val="9B743E"/>
                </a:solidFill>
                <a:latin typeface="Calibri" pitchFamily="34" charset="0"/>
                <a:ea typeface="Calibri" pitchFamily="34" charset="-122"/>
                <a:cs typeface="Calibri" pitchFamily="34" charset="-120"/>
              </a:rPr>
              <a:t>0,920</a:t>
            </a:r>
            <a:endParaRPr lang="en-US" sz="1600" dirty="0"/>
          </a:p>
        </p:txBody>
      </p:sp>
      <p:sp>
        <p:nvSpPr>
          <p:cNvPr id="26" name="Text 24"/>
          <p:cNvSpPr/>
          <p:nvPr/>
        </p:nvSpPr>
        <p:spPr>
          <a:xfrm>
            <a:off x="621792" y="3044952"/>
            <a:ext cx="2971800" cy="32004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Mistral-7B</a:t>
            </a:r>
            <a:endParaRPr lang="en-US" sz="2100" dirty="0"/>
          </a:p>
        </p:txBody>
      </p:sp>
      <p:sp>
        <p:nvSpPr>
          <p:cNvPr id="27" name="Text 25"/>
          <p:cNvSpPr/>
          <p:nvPr/>
        </p:nvSpPr>
        <p:spPr>
          <a:xfrm>
            <a:off x="621792" y="3392424"/>
            <a:ext cx="2834640" cy="237744"/>
          </a:xfrm>
          <a:prstGeom prst="rect">
            <a:avLst/>
          </a:prstGeom>
          <a:noFill/>
          <a:ln/>
        </p:spPr>
        <p:txBody>
          <a:bodyPr wrap="square" lIns="0" tIns="0" rIns="0" bIns="0" rtlCol="0" anchor="t"/>
          <a:lstStyle/>
          <a:p>
            <a:pPr marL="0" indent="0">
              <a:buNone/>
            </a:pPr>
            <a:r>
              <a:rPr lang="en-US" sz="1400" dirty="0">
                <a:solidFill>
                  <a:srgbClr val="70777D"/>
                </a:solidFill>
                <a:latin typeface="Calibri" pitchFamily="34" charset="0"/>
                <a:ea typeface="Calibri" pitchFamily="34" charset="-122"/>
                <a:cs typeface="Calibri" pitchFamily="34" charset="-120"/>
              </a:rPr>
              <a:t>96 pares</a:t>
            </a:r>
            <a:endParaRPr lang="en-US" sz="1400" dirty="0"/>
          </a:p>
        </p:txBody>
      </p:sp>
      <p:sp>
        <p:nvSpPr>
          <p:cNvPr id="28" name="Shape 26"/>
          <p:cNvSpPr/>
          <p:nvPr/>
        </p:nvSpPr>
        <p:spPr>
          <a:xfrm>
            <a:off x="9281478" y="3227832"/>
            <a:ext cx="669925" cy="91"/>
          </a:xfrm>
          <a:prstGeom prst="line">
            <a:avLst/>
          </a:prstGeom>
          <a:noFill/>
          <a:ln w="50800">
            <a:solidFill>
              <a:srgbClr val="D9DDE0"/>
            </a:solidFill>
            <a:prstDash val="solid"/>
          </a:ln>
        </p:spPr>
      </p:sp>
      <p:sp>
        <p:nvSpPr>
          <p:cNvPr id="29" name="Shape 27"/>
          <p:cNvSpPr/>
          <p:nvPr/>
        </p:nvSpPr>
        <p:spPr>
          <a:xfrm>
            <a:off x="9873678" y="3150108"/>
            <a:ext cx="155448" cy="155448"/>
          </a:xfrm>
          <a:prstGeom prst="ellipse">
            <a:avLst/>
          </a:prstGeom>
          <a:solidFill>
            <a:srgbClr val="26282A"/>
          </a:solidFill>
          <a:ln w="6350">
            <a:solidFill>
              <a:srgbClr val="26282A"/>
            </a:solidFill>
            <a:prstDash val="solid"/>
          </a:ln>
        </p:spPr>
      </p:sp>
      <p:sp>
        <p:nvSpPr>
          <p:cNvPr id="30" name="Shape 28"/>
          <p:cNvSpPr/>
          <p:nvPr/>
        </p:nvSpPr>
        <p:spPr>
          <a:xfrm>
            <a:off x="9203754" y="3150108"/>
            <a:ext cx="155448" cy="155448"/>
          </a:xfrm>
          <a:prstGeom prst="ellipse">
            <a:avLst/>
          </a:prstGeom>
          <a:solidFill>
            <a:srgbClr val="9B743E"/>
          </a:solidFill>
          <a:ln w="6350">
            <a:solidFill>
              <a:srgbClr val="9B743E"/>
            </a:solidFill>
            <a:prstDash val="solid"/>
          </a:ln>
        </p:spPr>
      </p:sp>
      <p:sp>
        <p:nvSpPr>
          <p:cNvPr id="31" name="Text 29"/>
          <p:cNvSpPr/>
          <p:nvPr/>
        </p:nvSpPr>
        <p:spPr>
          <a:xfrm>
            <a:off x="9567355" y="2898648"/>
            <a:ext cx="768096" cy="256032"/>
          </a:xfrm>
          <a:prstGeom prst="rect">
            <a:avLst/>
          </a:prstGeom>
          <a:noFill/>
          <a:ln/>
        </p:spPr>
        <p:txBody>
          <a:bodyPr wrap="square" lIns="0" tIns="0" rIns="0" bIns="0" rtlCol="0" anchor="t"/>
          <a:lstStyle/>
          <a:p>
            <a:pPr marL="0" indent="0" algn="ctr">
              <a:buNone/>
            </a:pPr>
            <a:r>
              <a:rPr lang="en-US" sz="1600" dirty="0">
                <a:solidFill>
                  <a:srgbClr val="26282A"/>
                </a:solidFill>
                <a:latin typeface="Calibri" pitchFamily="34" charset="0"/>
                <a:ea typeface="Calibri" pitchFamily="34" charset="-122"/>
                <a:cs typeface="Calibri" pitchFamily="34" charset="-120"/>
              </a:rPr>
              <a:t>0,924</a:t>
            </a:r>
            <a:endParaRPr lang="en-US" sz="1600" dirty="0"/>
          </a:p>
        </p:txBody>
      </p:sp>
      <p:sp>
        <p:nvSpPr>
          <p:cNvPr id="32" name="Text 30"/>
          <p:cNvSpPr/>
          <p:nvPr/>
        </p:nvSpPr>
        <p:spPr>
          <a:xfrm>
            <a:off x="8897430" y="3337560"/>
            <a:ext cx="768096" cy="256032"/>
          </a:xfrm>
          <a:prstGeom prst="rect">
            <a:avLst/>
          </a:prstGeom>
          <a:noFill/>
          <a:ln/>
        </p:spPr>
        <p:txBody>
          <a:bodyPr wrap="square" lIns="0" tIns="0" rIns="0" bIns="0" rtlCol="0" anchor="t"/>
          <a:lstStyle/>
          <a:p>
            <a:pPr marL="0" indent="0" algn="ctr">
              <a:buNone/>
            </a:pPr>
            <a:r>
              <a:rPr lang="en-US" sz="1600" dirty="0">
                <a:solidFill>
                  <a:srgbClr val="9B743E"/>
                </a:solidFill>
                <a:latin typeface="Calibri" pitchFamily="34" charset="0"/>
                <a:ea typeface="Calibri" pitchFamily="34" charset="-122"/>
                <a:cs typeface="Calibri" pitchFamily="34" charset="-120"/>
              </a:rPr>
              <a:t>0,878</a:t>
            </a:r>
            <a:endParaRPr lang="en-US" sz="1600" dirty="0"/>
          </a:p>
        </p:txBody>
      </p:sp>
      <p:sp>
        <p:nvSpPr>
          <p:cNvPr id="33" name="Text 31"/>
          <p:cNvSpPr/>
          <p:nvPr/>
        </p:nvSpPr>
        <p:spPr>
          <a:xfrm>
            <a:off x="621792" y="3758184"/>
            <a:ext cx="2971800" cy="32004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Qwen3-8B</a:t>
            </a:r>
            <a:endParaRPr lang="en-US" sz="2100" dirty="0"/>
          </a:p>
        </p:txBody>
      </p:sp>
      <p:sp>
        <p:nvSpPr>
          <p:cNvPr id="34" name="Text 32"/>
          <p:cNvSpPr/>
          <p:nvPr/>
        </p:nvSpPr>
        <p:spPr>
          <a:xfrm>
            <a:off x="621792" y="4105656"/>
            <a:ext cx="2834640" cy="237744"/>
          </a:xfrm>
          <a:prstGeom prst="rect">
            <a:avLst/>
          </a:prstGeom>
          <a:noFill/>
          <a:ln/>
        </p:spPr>
        <p:txBody>
          <a:bodyPr wrap="square" lIns="0" tIns="0" rIns="0" bIns="0" rtlCol="0" anchor="t"/>
          <a:lstStyle/>
          <a:p>
            <a:pPr marL="0" indent="0">
              <a:buNone/>
            </a:pPr>
            <a:r>
              <a:rPr lang="en-US" sz="1400" dirty="0">
                <a:solidFill>
                  <a:srgbClr val="70777D"/>
                </a:solidFill>
                <a:latin typeface="Calibri" pitchFamily="34" charset="0"/>
                <a:ea typeface="Calibri" pitchFamily="34" charset="-122"/>
                <a:cs typeface="Calibri" pitchFamily="34" charset="-120"/>
              </a:rPr>
              <a:t>96 pares</a:t>
            </a:r>
            <a:endParaRPr lang="en-US" sz="1400" dirty="0"/>
          </a:p>
        </p:txBody>
      </p:sp>
      <p:sp>
        <p:nvSpPr>
          <p:cNvPr id="35" name="Shape 33"/>
          <p:cNvSpPr/>
          <p:nvPr/>
        </p:nvSpPr>
        <p:spPr>
          <a:xfrm>
            <a:off x="6081077" y="3941064"/>
            <a:ext cx="4016375" cy="91"/>
          </a:xfrm>
          <a:prstGeom prst="line">
            <a:avLst/>
          </a:prstGeom>
          <a:noFill/>
          <a:ln w="50800">
            <a:solidFill>
              <a:srgbClr val="D9DDE0"/>
            </a:solidFill>
            <a:prstDash val="solid"/>
          </a:ln>
        </p:spPr>
      </p:sp>
      <p:sp>
        <p:nvSpPr>
          <p:cNvPr id="36" name="Shape 34"/>
          <p:cNvSpPr/>
          <p:nvPr/>
        </p:nvSpPr>
        <p:spPr>
          <a:xfrm>
            <a:off x="10019729" y="3863340"/>
            <a:ext cx="155448" cy="155448"/>
          </a:xfrm>
          <a:prstGeom prst="ellipse">
            <a:avLst/>
          </a:prstGeom>
          <a:solidFill>
            <a:srgbClr val="26282A"/>
          </a:solidFill>
          <a:ln w="6350">
            <a:solidFill>
              <a:srgbClr val="26282A"/>
            </a:solidFill>
            <a:prstDash val="solid"/>
          </a:ln>
        </p:spPr>
      </p:sp>
      <p:sp>
        <p:nvSpPr>
          <p:cNvPr id="37" name="Shape 35"/>
          <p:cNvSpPr/>
          <p:nvPr/>
        </p:nvSpPr>
        <p:spPr>
          <a:xfrm>
            <a:off x="6003353" y="3863340"/>
            <a:ext cx="155448" cy="155448"/>
          </a:xfrm>
          <a:prstGeom prst="ellipse">
            <a:avLst/>
          </a:prstGeom>
          <a:solidFill>
            <a:srgbClr val="9B743E"/>
          </a:solidFill>
          <a:ln w="6350">
            <a:solidFill>
              <a:srgbClr val="9B743E"/>
            </a:solidFill>
            <a:prstDash val="solid"/>
          </a:ln>
        </p:spPr>
      </p:sp>
      <p:sp>
        <p:nvSpPr>
          <p:cNvPr id="38" name="Text 36"/>
          <p:cNvSpPr/>
          <p:nvPr/>
        </p:nvSpPr>
        <p:spPr>
          <a:xfrm>
            <a:off x="9713405" y="3611880"/>
            <a:ext cx="768096" cy="256032"/>
          </a:xfrm>
          <a:prstGeom prst="rect">
            <a:avLst/>
          </a:prstGeom>
          <a:noFill/>
          <a:ln/>
        </p:spPr>
        <p:txBody>
          <a:bodyPr wrap="square" lIns="0" tIns="0" rIns="0" bIns="0" rtlCol="0" anchor="t"/>
          <a:lstStyle/>
          <a:p>
            <a:pPr marL="0" indent="0" algn="ctr">
              <a:buNone/>
            </a:pPr>
            <a:r>
              <a:rPr lang="en-US" sz="1600" dirty="0">
                <a:solidFill>
                  <a:srgbClr val="26282A"/>
                </a:solidFill>
                <a:latin typeface="Calibri" pitchFamily="34" charset="0"/>
                <a:ea typeface="Calibri" pitchFamily="34" charset="-122"/>
                <a:cs typeface="Calibri" pitchFamily="34" charset="-120"/>
              </a:rPr>
              <a:t>0,934</a:t>
            </a:r>
            <a:endParaRPr lang="en-US" sz="1600" dirty="0"/>
          </a:p>
        </p:txBody>
      </p:sp>
      <p:sp>
        <p:nvSpPr>
          <p:cNvPr id="39" name="Text 37"/>
          <p:cNvSpPr/>
          <p:nvPr/>
        </p:nvSpPr>
        <p:spPr>
          <a:xfrm>
            <a:off x="5697029" y="4050792"/>
            <a:ext cx="768096" cy="256032"/>
          </a:xfrm>
          <a:prstGeom prst="rect">
            <a:avLst/>
          </a:prstGeom>
          <a:noFill/>
          <a:ln/>
        </p:spPr>
        <p:txBody>
          <a:bodyPr wrap="square" lIns="0" tIns="0" rIns="0" bIns="0" rtlCol="0" anchor="t"/>
          <a:lstStyle/>
          <a:p>
            <a:pPr marL="0" indent="0" algn="ctr">
              <a:buNone/>
            </a:pPr>
            <a:r>
              <a:rPr lang="en-US" sz="1600" dirty="0">
                <a:solidFill>
                  <a:srgbClr val="9B743E"/>
                </a:solidFill>
                <a:latin typeface="Calibri" pitchFamily="34" charset="0"/>
                <a:ea typeface="Calibri" pitchFamily="34" charset="-122"/>
                <a:cs typeface="Calibri" pitchFamily="34" charset="-120"/>
              </a:rPr>
              <a:t>0,659</a:t>
            </a:r>
            <a:endParaRPr lang="en-US" sz="1600" dirty="0"/>
          </a:p>
        </p:txBody>
      </p:sp>
      <p:sp>
        <p:nvSpPr>
          <p:cNvPr id="40" name="Text 38"/>
          <p:cNvSpPr/>
          <p:nvPr/>
        </p:nvSpPr>
        <p:spPr>
          <a:xfrm>
            <a:off x="621792" y="4471416"/>
            <a:ext cx="2971800" cy="32004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Qwen3-32B</a:t>
            </a:r>
            <a:endParaRPr lang="en-US" sz="2100" dirty="0"/>
          </a:p>
        </p:txBody>
      </p:sp>
      <p:sp>
        <p:nvSpPr>
          <p:cNvPr id="41" name="Text 39"/>
          <p:cNvSpPr/>
          <p:nvPr/>
        </p:nvSpPr>
        <p:spPr>
          <a:xfrm>
            <a:off x="621792" y="4818888"/>
            <a:ext cx="2834640" cy="237744"/>
          </a:xfrm>
          <a:prstGeom prst="rect">
            <a:avLst/>
          </a:prstGeom>
          <a:noFill/>
          <a:ln/>
        </p:spPr>
        <p:txBody>
          <a:bodyPr wrap="square" lIns="0" tIns="0" rIns="0" bIns="0" rtlCol="0" anchor="t"/>
          <a:lstStyle/>
          <a:p>
            <a:pPr marL="0" indent="0">
              <a:buNone/>
            </a:pPr>
            <a:r>
              <a:rPr lang="en-US" sz="1400" dirty="0">
                <a:solidFill>
                  <a:srgbClr val="70777D"/>
                </a:solidFill>
                <a:latin typeface="Calibri" pitchFamily="34" charset="0"/>
                <a:ea typeface="Calibri" pitchFamily="34" charset="-122"/>
                <a:cs typeface="Calibri" pitchFamily="34" charset="-120"/>
              </a:rPr>
              <a:t>96 pares</a:t>
            </a:r>
            <a:endParaRPr lang="en-US" sz="1400" dirty="0"/>
          </a:p>
        </p:txBody>
      </p:sp>
      <p:sp>
        <p:nvSpPr>
          <p:cNvPr id="42" name="Shape 40"/>
          <p:cNvSpPr/>
          <p:nvPr/>
        </p:nvSpPr>
        <p:spPr>
          <a:xfrm>
            <a:off x="9768840" y="4654296"/>
            <a:ext cx="522287" cy="91"/>
          </a:xfrm>
          <a:prstGeom prst="line">
            <a:avLst/>
          </a:prstGeom>
          <a:noFill/>
          <a:ln w="50800">
            <a:solidFill>
              <a:srgbClr val="D9DDE0"/>
            </a:solidFill>
            <a:prstDash val="solid"/>
          </a:ln>
        </p:spPr>
      </p:sp>
      <p:sp>
        <p:nvSpPr>
          <p:cNvPr id="43" name="Shape 41"/>
          <p:cNvSpPr/>
          <p:nvPr/>
        </p:nvSpPr>
        <p:spPr>
          <a:xfrm>
            <a:off x="10213404" y="4576572"/>
            <a:ext cx="155448" cy="155448"/>
          </a:xfrm>
          <a:prstGeom prst="ellipse">
            <a:avLst/>
          </a:prstGeom>
          <a:solidFill>
            <a:srgbClr val="26282A"/>
          </a:solidFill>
          <a:ln w="6350">
            <a:solidFill>
              <a:srgbClr val="26282A"/>
            </a:solidFill>
            <a:prstDash val="solid"/>
          </a:ln>
        </p:spPr>
      </p:sp>
      <p:sp>
        <p:nvSpPr>
          <p:cNvPr id="44" name="Shape 42"/>
          <p:cNvSpPr/>
          <p:nvPr/>
        </p:nvSpPr>
        <p:spPr>
          <a:xfrm>
            <a:off x="9691116" y="4576572"/>
            <a:ext cx="155448" cy="155448"/>
          </a:xfrm>
          <a:prstGeom prst="ellipse">
            <a:avLst/>
          </a:prstGeom>
          <a:solidFill>
            <a:srgbClr val="9B743E"/>
          </a:solidFill>
          <a:ln w="6350">
            <a:solidFill>
              <a:srgbClr val="9B743E"/>
            </a:solidFill>
            <a:prstDash val="solid"/>
          </a:ln>
        </p:spPr>
      </p:sp>
      <p:sp>
        <p:nvSpPr>
          <p:cNvPr id="45" name="Text 43"/>
          <p:cNvSpPr/>
          <p:nvPr/>
        </p:nvSpPr>
        <p:spPr>
          <a:xfrm>
            <a:off x="9907080" y="4325112"/>
            <a:ext cx="768096" cy="256032"/>
          </a:xfrm>
          <a:prstGeom prst="rect">
            <a:avLst/>
          </a:prstGeom>
          <a:noFill/>
          <a:ln/>
        </p:spPr>
        <p:txBody>
          <a:bodyPr wrap="square" lIns="0" tIns="0" rIns="0" bIns="0" rtlCol="0" anchor="t"/>
          <a:lstStyle/>
          <a:p>
            <a:pPr marL="0" indent="0" algn="ctr">
              <a:buNone/>
            </a:pPr>
            <a:r>
              <a:rPr lang="en-US" sz="1600" dirty="0">
                <a:solidFill>
                  <a:srgbClr val="26282A"/>
                </a:solidFill>
                <a:latin typeface="Calibri" pitchFamily="34" charset="0"/>
                <a:ea typeface="Calibri" pitchFamily="34" charset="-122"/>
                <a:cs typeface="Calibri" pitchFamily="34" charset="-120"/>
              </a:rPr>
              <a:t>0,947</a:t>
            </a:r>
            <a:endParaRPr lang="en-US" sz="1600" dirty="0"/>
          </a:p>
        </p:txBody>
      </p:sp>
      <p:sp>
        <p:nvSpPr>
          <p:cNvPr id="46" name="Text 44"/>
          <p:cNvSpPr/>
          <p:nvPr/>
        </p:nvSpPr>
        <p:spPr>
          <a:xfrm>
            <a:off x="9384792" y="4764024"/>
            <a:ext cx="768096" cy="256032"/>
          </a:xfrm>
          <a:prstGeom prst="rect">
            <a:avLst/>
          </a:prstGeom>
          <a:noFill/>
          <a:ln/>
        </p:spPr>
        <p:txBody>
          <a:bodyPr wrap="square" lIns="0" tIns="0" rIns="0" bIns="0" rtlCol="0" anchor="t"/>
          <a:lstStyle/>
          <a:p>
            <a:pPr marL="0" indent="0" algn="ctr">
              <a:buNone/>
            </a:pPr>
            <a:r>
              <a:rPr lang="en-US" sz="1600" dirty="0">
                <a:solidFill>
                  <a:srgbClr val="9B743E"/>
                </a:solidFill>
                <a:latin typeface="Calibri" pitchFamily="34" charset="0"/>
                <a:ea typeface="Calibri" pitchFamily="34" charset="-122"/>
                <a:cs typeface="Calibri" pitchFamily="34" charset="-120"/>
              </a:rPr>
              <a:t>0,911</a:t>
            </a:r>
            <a:endParaRPr lang="en-US" sz="1600" dirty="0"/>
          </a:p>
        </p:txBody>
      </p:sp>
      <p:sp>
        <p:nvSpPr>
          <p:cNvPr id="47" name="Text 45"/>
          <p:cNvSpPr/>
          <p:nvPr/>
        </p:nvSpPr>
        <p:spPr>
          <a:xfrm>
            <a:off x="621792" y="5541264"/>
            <a:ext cx="1078992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En Llama, la separación ajustada por escala también cae 44 %.</a:t>
            </a:r>
            <a:endParaRPr lang="en-US" sz="2100" dirty="0"/>
          </a:p>
        </p:txBody>
      </p:sp>
      <p:sp>
        <p:nvSpPr>
          <p:cNvPr id="48" name="Text 46"/>
          <p:cNvSpPr/>
          <p:nvPr/>
        </p:nvSpPr>
        <p:spPr>
          <a:xfrm>
            <a:off x="621792" y="5971032"/>
            <a:ext cx="10789920" cy="274320"/>
          </a:xfrm>
          <a:prstGeom prst="rect">
            <a:avLst/>
          </a:prstGeom>
          <a:noFill/>
          <a:ln/>
        </p:spPr>
        <p:txBody>
          <a:bodyPr wrap="square" lIns="0" tIns="0" rIns="0" bIns="0" rtlCol="0" anchor="t"/>
          <a:lstStyle/>
          <a:p>
            <a:pPr marL="0" indent="0">
              <a:buNone/>
            </a:pPr>
            <a:r>
              <a:rPr lang="en-US" sz="1600" dirty="0">
                <a:solidFill>
                  <a:srgbClr val="50565C"/>
                </a:solidFill>
                <a:latin typeface="Calibri" pitchFamily="34" charset="0"/>
                <a:ea typeface="Calibri" pitchFamily="34" charset="-122"/>
                <a:cs typeface="Calibri" pitchFamily="34" charset="-120"/>
              </a:rPr>
              <a:t>En Mistral, la incertidumbre no permite afirmar una caída de AUROC al 95 %.</a:t>
            </a:r>
            <a:endParaRPr lang="en-US" sz="1600" dirty="0"/>
          </a:p>
        </p:txBody>
      </p:sp>
      <p:sp>
        <p:nvSpPr>
          <p:cNvPr id="49" name="Text 47"/>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AUROC fuera de muestra de la dirección de chat. Comparación descriptiva entre modelos, con tamaños y versiones distintos.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Resultado 3 · explicitud</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La apariencia legítima no borra toda la señal</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10</a:t>
            </a:r>
            <a:endParaRPr lang="en-US" sz="1100" dirty="0"/>
          </a:p>
        </p:txBody>
      </p:sp>
      <p:sp>
        <p:nvSpPr>
          <p:cNvPr id="6" name="Text 4"/>
          <p:cNvSpPr/>
          <p:nvPr/>
        </p:nvSpPr>
        <p:spPr>
          <a:xfrm>
            <a:off x="621792" y="1984248"/>
            <a:ext cx="10789920" cy="457200"/>
          </a:xfrm>
          <a:prstGeom prst="rect">
            <a:avLst/>
          </a:prstGeom>
          <a:noFill/>
          <a:ln/>
        </p:spPr>
        <p:txBody>
          <a:bodyPr wrap="square" lIns="0" tIns="0" rIns="0" bIns="0" rtlCol="0" anchor="t"/>
          <a:lstStyle/>
          <a:p>
            <a:pPr marL="0" indent="0">
              <a:buNone/>
            </a:pPr>
            <a:r>
              <a:rPr lang="en-US" sz="2300" dirty="0">
                <a:solidFill>
                  <a:srgbClr val="26282A"/>
                </a:solidFill>
                <a:latin typeface="Calibri" pitchFamily="34" charset="0"/>
                <a:ea typeface="Calibri" pitchFamily="34" charset="-122"/>
                <a:cs typeface="Calibri" pitchFamily="34" charset="-120"/>
              </a:rPr>
              <a:t>AUROC agéntico en el estrato de apariencia legítima</a:t>
            </a:r>
            <a:endParaRPr lang="en-US" sz="2300" dirty="0"/>
          </a:p>
        </p:txBody>
      </p:sp>
      <p:sp>
        <p:nvSpPr>
          <p:cNvPr id="7" name="Shape 5"/>
          <p:cNvSpPr/>
          <p:nvPr/>
        </p:nvSpPr>
        <p:spPr>
          <a:xfrm>
            <a:off x="621792" y="2788920"/>
            <a:ext cx="3246120" cy="91"/>
          </a:xfrm>
          <a:prstGeom prst="line">
            <a:avLst/>
          </a:prstGeom>
          <a:noFill/>
          <a:ln w="12700">
            <a:solidFill>
              <a:srgbClr val="D9DDE0"/>
            </a:solidFill>
            <a:prstDash val="solid"/>
          </a:ln>
        </p:spPr>
      </p:sp>
      <p:sp>
        <p:nvSpPr>
          <p:cNvPr id="8" name="Text 6"/>
          <p:cNvSpPr/>
          <p:nvPr/>
        </p:nvSpPr>
        <p:spPr>
          <a:xfrm>
            <a:off x="621792" y="3035808"/>
            <a:ext cx="3383280" cy="41148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Mistral-7B</a:t>
            </a:r>
            <a:endParaRPr lang="en-US" sz="2400" dirty="0"/>
          </a:p>
        </p:txBody>
      </p:sp>
      <p:sp>
        <p:nvSpPr>
          <p:cNvPr id="9" name="Text 7"/>
          <p:cNvSpPr/>
          <p:nvPr/>
        </p:nvSpPr>
        <p:spPr>
          <a:xfrm>
            <a:off x="621792" y="3694176"/>
            <a:ext cx="3474720" cy="914400"/>
          </a:xfrm>
          <a:prstGeom prst="rect">
            <a:avLst/>
          </a:prstGeom>
          <a:noFill/>
          <a:ln/>
        </p:spPr>
        <p:txBody>
          <a:bodyPr wrap="square" lIns="0" tIns="0" rIns="0" bIns="0" rtlCol="0" anchor="t"/>
          <a:lstStyle/>
          <a:p>
            <a:pPr marL="0" indent="0">
              <a:buNone/>
            </a:pPr>
            <a:r>
              <a:rPr lang="en-US" sz="5300" b="1" dirty="0">
                <a:solidFill>
                  <a:srgbClr val="9B743E"/>
                </a:solidFill>
                <a:latin typeface="Calibri" pitchFamily="34" charset="0"/>
                <a:ea typeface="Calibri" pitchFamily="34" charset="-122"/>
                <a:cs typeface="Calibri" pitchFamily="34" charset="-120"/>
              </a:rPr>
              <a:t>0,879</a:t>
            </a:r>
            <a:endParaRPr lang="en-US" sz="5300" dirty="0"/>
          </a:p>
        </p:txBody>
      </p:sp>
      <p:sp>
        <p:nvSpPr>
          <p:cNvPr id="10" name="Text 8"/>
          <p:cNvSpPr/>
          <p:nvPr/>
        </p:nvSpPr>
        <p:spPr>
          <a:xfrm>
            <a:off x="621792" y="4709160"/>
            <a:ext cx="3383280" cy="320040"/>
          </a:xfrm>
          <a:prstGeom prst="rect">
            <a:avLst/>
          </a:prstGeom>
          <a:noFill/>
          <a:ln/>
        </p:spPr>
        <p:txBody>
          <a:bodyPr wrap="square" lIns="0" tIns="0" rIns="0" bIns="0" rtlCol="0" anchor="t"/>
          <a:lstStyle/>
          <a:p>
            <a:pPr marL="0" indent="0">
              <a:buNone/>
            </a:pPr>
            <a:r>
              <a:rPr lang="en-US" sz="1800" dirty="0">
                <a:solidFill>
                  <a:srgbClr val="50565C"/>
                </a:solidFill>
                <a:latin typeface="Calibri" pitchFamily="34" charset="0"/>
                <a:ea typeface="Calibri" pitchFamily="34" charset="-122"/>
                <a:cs typeface="Calibri" pitchFamily="34" charset="-120"/>
              </a:rPr>
              <a:t>30 pares del estrato</a:t>
            </a:r>
            <a:endParaRPr lang="en-US" sz="1800" dirty="0"/>
          </a:p>
        </p:txBody>
      </p:sp>
      <p:sp>
        <p:nvSpPr>
          <p:cNvPr id="11" name="Shape 9"/>
          <p:cNvSpPr/>
          <p:nvPr/>
        </p:nvSpPr>
        <p:spPr>
          <a:xfrm>
            <a:off x="4416552" y="2788920"/>
            <a:ext cx="3246120" cy="91"/>
          </a:xfrm>
          <a:prstGeom prst="line">
            <a:avLst/>
          </a:prstGeom>
          <a:noFill/>
          <a:ln w="12700">
            <a:solidFill>
              <a:srgbClr val="D9DDE0"/>
            </a:solidFill>
            <a:prstDash val="solid"/>
          </a:ln>
        </p:spPr>
      </p:sp>
      <p:sp>
        <p:nvSpPr>
          <p:cNvPr id="12" name="Text 10"/>
          <p:cNvSpPr/>
          <p:nvPr/>
        </p:nvSpPr>
        <p:spPr>
          <a:xfrm>
            <a:off x="4416552" y="3035808"/>
            <a:ext cx="3383280" cy="41148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Qwen3-8B</a:t>
            </a:r>
            <a:endParaRPr lang="en-US" sz="2400" dirty="0"/>
          </a:p>
        </p:txBody>
      </p:sp>
      <p:sp>
        <p:nvSpPr>
          <p:cNvPr id="13" name="Text 11"/>
          <p:cNvSpPr/>
          <p:nvPr/>
        </p:nvSpPr>
        <p:spPr>
          <a:xfrm>
            <a:off x="4416552" y="3694176"/>
            <a:ext cx="3474720" cy="914400"/>
          </a:xfrm>
          <a:prstGeom prst="rect">
            <a:avLst/>
          </a:prstGeom>
          <a:noFill/>
          <a:ln/>
        </p:spPr>
        <p:txBody>
          <a:bodyPr wrap="square" lIns="0" tIns="0" rIns="0" bIns="0" rtlCol="0" anchor="t"/>
          <a:lstStyle/>
          <a:p>
            <a:pPr marL="0" indent="0">
              <a:buNone/>
            </a:pPr>
            <a:r>
              <a:rPr lang="en-US" sz="5300" b="1" dirty="0">
                <a:solidFill>
                  <a:srgbClr val="9B743E"/>
                </a:solidFill>
                <a:latin typeface="Calibri" pitchFamily="34" charset="0"/>
                <a:ea typeface="Calibri" pitchFamily="34" charset="-122"/>
                <a:cs typeface="Calibri" pitchFamily="34" charset="-120"/>
              </a:rPr>
              <a:t>0,690</a:t>
            </a:r>
            <a:endParaRPr lang="en-US" sz="5300" dirty="0"/>
          </a:p>
        </p:txBody>
      </p:sp>
      <p:sp>
        <p:nvSpPr>
          <p:cNvPr id="14" name="Text 12"/>
          <p:cNvSpPr/>
          <p:nvPr/>
        </p:nvSpPr>
        <p:spPr>
          <a:xfrm>
            <a:off x="4416552" y="4709160"/>
            <a:ext cx="3383280" cy="320040"/>
          </a:xfrm>
          <a:prstGeom prst="rect">
            <a:avLst/>
          </a:prstGeom>
          <a:noFill/>
          <a:ln/>
        </p:spPr>
        <p:txBody>
          <a:bodyPr wrap="square" lIns="0" tIns="0" rIns="0" bIns="0" rtlCol="0" anchor="t"/>
          <a:lstStyle/>
          <a:p>
            <a:pPr marL="0" indent="0">
              <a:buNone/>
            </a:pPr>
            <a:r>
              <a:rPr lang="en-US" sz="1800" dirty="0">
                <a:solidFill>
                  <a:srgbClr val="50565C"/>
                </a:solidFill>
                <a:latin typeface="Calibri" pitchFamily="34" charset="0"/>
                <a:ea typeface="Calibri" pitchFamily="34" charset="-122"/>
                <a:cs typeface="Calibri" pitchFamily="34" charset="-120"/>
              </a:rPr>
              <a:t>30 pares del estrato</a:t>
            </a:r>
            <a:endParaRPr lang="en-US" sz="1800" dirty="0"/>
          </a:p>
        </p:txBody>
      </p:sp>
      <p:sp>
        <p:nvSpPr>
          <p:cNvPr id="15" name="Shape 13"/>
          <p:cNvSpPr/>
          <p:nvPr/>
        </p:nvSpPr>
        <p:spPr>
          <a:xfrm>
            <a:off x="8211312" y="2788920"/>
            <a:ext cx="3246120" cy="91"/>
          </a:xfrm>
          <a:prstGeom prst="line">
            <a:avLst/>
          </a:prstGeom>
          <a:noFill/>
          <a:ln w="12700">
            <a:solidFill>
              <a:srgbClr val="D9DDE0"/>
            </a:solidFill>
            <a:prstDash val="solid"/>
          </a:ln>
        </p:spPr>
      </p:sp>
      <p:sp>
        <p:nvSpPr>
          <p:cNvPr id="16" name="Text 14"/>
          <p:cNvSpPr/>
          <p:nvPr/>
        </p:nvSpPr>
        <p:spPr>
          <a:xfrm>
            <a:off x="8211312" y="3035808"/>
            <a:ext cx="3383280" cy="41148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Qwen3-32B</a:t>
            </a:r>
            <a:endParaRPr lang="en-US" sz="2400" dirty="0"/>
          </a:p>
        </p:txBody>
      </p:sp>
      <p:sp>
        <p:nvSpPr>
          <p:cNvPr id="17" name="Text 15"/>
          <p:cNvSpPr/>
          <p:nvPr/>
        </p:nvSpPr>
        <p:spPr>
          <a:xfrm>
            <a:off x="8211312" y="3694176"/>
            <a:ext cx="3474720" cy="914400"/>
          </a:xfrm>
          <a:prstGeom prst="rect">
            <a:avLst/>
          </a:prstGeom>
          <a:noFill/>
          <a:ln/>
        </p:spPr>
        <p:txBody>
          <a:bodyPr wrap="square" lIns="0" tIns="0" rIns="0" bIns="0" rtlCol="0" anchor="t"/>
          <a:lstStyle/>
          <a:p>
            <a:pPr marL="0" indent="0">
              <a:buNone/>
            </a:pPr>
            <a:r>
              <a:rPr lang="en-US" sz="5300" b="1" dirty="0">
                <a:solidFill>
                  <a:srgbClr val="9B743E"/>
                </a:solidFill>
                <a:latin typeface="Calibri" pitchFamily="34" charset="0"/>
                <a:ea typeface="Calibri" pitchFamily="34" charset="-122"/>
                <a:cs typeface="Calibri" pitchFamily="34" charset="-120"/>
              </a:rPr>
              <a:t>0,903</a:t>
            </a:r>
            <a:endParaRPr lang="en-US" sz="5300" dirty="0"/>
          </a:p>
        </p:txBody>
      </p:sp>
      <p:sp>
        <p:nvSpPr>
          <p:cNvPr id="18" name="Text 16"/>
          <p:cNvSpPr/>
          <p:nvPr/>
        </p:nvSpPr>
        <p:spPr>
          <a:xfrm>
            <a:off x="8211312" y="4709160"/>
            <a:ext cx="3383280" cy="320040"/>
          </a:xfrm>
          <a:prstGeom prst="rect">
            <a:avLst/>
          </a:prstGeom>
          <a:noFill/>
          <a:ln/>
        </p:spPr>
        <p:txBody>
          <a:bodyPr wrap="square" lIns="0" tIns="0" rIns="0" bIns="0" rtlCol="0" anchor="t"/>
          <a:lstStyle/>
          <a:p>
            <a:pPr marL="0" indent="0">
              <a:buNone/>
            </a:pPr>
            <a:r>
              <a:rPr lang="en-US" sz="1800" dirty="0">
                <a:solidFill>
                  <a:srgbClr val="50565C"/>
                </a:solidFill>
                <a:latin typeface="Calibri" pitchFamily="34" charset="0"/>
                <a:ea typeface="Calibri" pitchFamily="34" charset="-122"/>
                <a:cs typeface="Calibri" pitchFamily="34" charset="-120"/>
              </a:rPr>
              <a:t>30 pares del estrato</a:t>
            </a:r>
            <a:endParaRPr lang="en-US" sz="1800" dirty="0"/>
          </a:p>
        </p:txBody>
      </p:sp>
      <p:sp>
        <p:nvSpPr>
          <p:cNvPr id="19" name="Text 17"/>
          <p:cNvSpPr/>
          <p:nvPr/>
        </p:nvSpPr>
        <p:spPr>
          <a:xfrm>
            <a:off x="621792" y="5468112"/>
            <a:ext cx="10789920" cy="45720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La pérdida máxima cambia de estrato según el modelo.</a:t>
            </a:r>
            <a:endParaRPr lang="en-US" sz="2400" dirty="0"/>
          </a:p>
        </p:txBody>
      </p:sp>
      <p:sp>
        <p:nvSpPr>
          <p:cNvPr id="20" name="Text 18"/>
          <p:cNvSpPr/>
          <p:nvPr/>
        </p:nvSpPr>
        <p:spPr>
          <a:xfrm>
            <a:off x="621792" y="5925312"/>
            <a:ext cx="10789920" cy="320040"/>
          </a:xfrm>
          <a:prstGeom prst="rect">
            <a:avLst/>
          </a:prstGeom>
          <a:noFill/>
          <a:ln/>
        </p:spPr>
        <p:txBody>
          <a:bodyPr wrap="square" lIns="0" tIns="0" rIns="0" bIns="0" rtlCol="0" anchor="t"/>
          <a:lstStyle/>
          <a:p>
            <a:pPr marL="0" indent="0">
              <a:buNone/>
            </a:pPr>
            <a:r>
              <a:rPr lang="en-US" sz="1700" dirty="0">
                <a:solidFill>
                  <a:srgbClr val="50565C"/>
                </a:solidFill>
                <a:latin typeface="Calibri" pitchFamily="34" charset="0"/>
                <a:ea typeface="Calibri" pitchFamily="34" charset="-122"/>
                <a:cs typeface="Calibri" pitchFamily="34" charset="-120"/>
              </a:rPr>
              <a:t>Son estimaciones descriptivas; no establecen una jerarquía universal.</a:t>
            </a:r>
            <a:endParaRPr lang="en-US" sz="1700" dirty="0"/>
          </a:p>
        </p:txBody>
      </p:sp>
      <p:sp>
        <p:nvSpPr>
          <p:cNvPr id="21" name="Text 19"/>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Mistral y Qwen V2: 96 pares por ejecución; aquí se muestran los 30 de apariencia legítima. Sin intervalos ni contrastes entre estratos.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Resultado 4 · utilidad</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Un monitor puede ayudar, pero también genera falsas alarmas</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11</a:t>
            </a:r>
            <a:endParaRPr lang="en-US" sz="1100" dirty="0"/>
          </a:p>
        </p:txBody>
      </p:sp>
      <p:sp>
        <p:nvSpPr>
          <p:cNvPr id="6" name="Text 4"/>
          <p:cNvSpPr/>
          <p:nvPr/>
        </p:nvSpPr>
        <p:spPr>
          <a:xfrm>
            <a:off x="621792" y="1938528"/>
            <a:ext cx="338328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Monitor ajustado en agente</a:t>
            </a:r>
            <a:endParaRPr lang="en-US" sz="1200" dirty="0"/>
          </a:p>
        </p:txBody>
      </p:sp>
      <p:sp>
        <p:nvSpPr>
          <p:cNvPr id="7" name="Text 5"/>
          <p:cNvSpPr/>
          <p:nvPr/>
        </p:nvSpPr>
        <p:spPr>
          <a:xfrm>
            <a:off x="4572000" y="1938528"/>
            <a:ext cx="3017520" cy="256032"/>
          </a:xfrm>
          <a:prstGeom prst="rect">
            <a:avLst/>
          </a:prstGeom>
          <a:noFill/>
          <a:ln/>
        </p:spPr>
        <p:txBody>
          <a:bodyPr wrap="square" lIns="0" tIns="0" rIns="0" bIns="0" rtlCol="0" anchor="t"/>
          <a:lstStyle/>
          <a:p>
            <a:pPr marL="0" indent="0">
              <a:buNone/>
            </a:pPr>
            <a:r>
              <a:rPr lang="en-US" sz="1200" b="1" dirty="0">
                <a:solidFill>
                  <a:srgbClr val="A14F3D"/>
                </a:solidFill>
                <a:latin typeface="Calibri" pitchFamily="34" charset="0"/>
                <a:ea typeface="Calibri" pitchFamily="34" charset="-122"/>
                <a:cs typeface="Calibri" pitchFamily="34" charset="-120"/>
              </a:rPr>
              <a:t>Dañinas detectadas</a:t>
            </a:r>
            <a:endParaRPr lang="en-US" sz="1200" dirty="0"/>
          </a:p>
        </p:txBody>
      </p:sp>
      <p:sp>
        <p:nvSpPr>
          <p:cNvPr id="8" name="Text 6"/>
          <p:cNvSpPr/>
          <p:nvPr/>
        </p:nvSpPr>
        <p:spPr>
          <a:xfrm>
            <a:off x="8321040" y="1938528"/>
            <a:ext cx="324612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Benignas marcadas como dañinas</a:t>
            </a:r>
            <a:endParaRPr lang="en-US" sz="1200" dirty="0"/>
          </a:p>
        </p:txBody>
      </p:sp>
      <p:sp>
        <p:nvSpPr>
          <p:cNvPr id="9" name="Shape 7"/>
          <p:cNvSpPr/>
          <p:nvPr/>
        </p:nvSpPr>
        <p:spPr>
          <a:xfrm>
            <a:off x="621792" y="2359152"/>
            <a:ext cx="10948111" cy="91"/>
          </a:xfrm>
          <a:prstGeom prst="line">
            <a:avLst/>
          </a:prstGeom>
          <a:noFill/>
          <a:ln w="12700">
            <a:solidFill>
              <a:srgbClr val="D9DDE0"/>
            </a:solidFill>
            <a:prstDash val="solid"/>
          </a:ln>
        </p:spPr>
      </p:sp>
      <p:sp>
        <p:nvSpPr>
          <p:cNvPr id="10" name="Text 8"/>
          <p:cNvSpPr/>
          <p:nvPr/>
        </p:nvSpPr>
        <p:spPr>
          <a:xfrm>
            <a:off x="621792" y="2514600"/>
            <a:ext cx="356616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Llama-3.3-70B</a:t>
            </a:r>
            <a:endParaRPr lang="en-US" sz="2100" dirty="0"/>
          </a:p>
        </p:txBody>
      </p:sp>
      <p:sp>
        <p:nvSpPr>
          <p:cNvPr id="11" name="Text 9"/>
          <p:cNvSpPr/>
          <p:nvPr/>
        </p:nvSpPr>
        <p:spPr>
          <a:xfrm>
            <a:off x="4572000" y="2514600"/>
            <a:ext cx="2011680" cy="420624"/>
          </a:xfrm>
          <a:prstGeom prst="rect">
            <a:avLst/>
          </a:prstGeom>
          <a:noFill/>
          <a:ln/>
        </p:spPr>
        <p:txBody>
          <a:bodyPr wrap="square" lIns="0" tIns="0" rIns="0" bIns="0" rtlCol="0" anchor="t"/>
          <a:lstStyle/>
          <a:p>
            <a:pPr marL="0" indent="0">
              <a:buNone/>
            </a:pPr>
            <a:r>
              <a:rPr lang="en-US" sz="2800" dirty="0">
                <a:solidFill>
                  <a:srgbClr val="A14F3D"/>
                </a:solidFill>
                <a:latin typeface="Calibri" pitchFamily="34" charset="0"/>
                <a:ea typeface="Calibri" pitchFamily="34" charset="-122"/>
                <a:cs typeface="Calibri" pitchFamily="34" charset="-120"/>
              </a:rPr>
              <a:t>37/42</a:t>
            </a:r>
            <a:endParaRPr lang="en-US" sz="2800" dirty="0"/>
          </a:p>
        </p:txBody>
      </p:sp>
      <p:sp>
        <p:nvSpPr>
          <p:cNvPr id="12" name="Text 10"/>
          <p:cNvSpPr/>
          <p:nvPr/>
        </p:nvSpPr>
        <p:spPr>
          <a:xfrm>
            <a:off x="8321040" y="2514600"/>
            <a:ext cx="2011680" cy="420624"/>
          </a:xfrm>
          <a:prstGeom prst="rect">
            <a:avLst/>
          </a:prstGeom>
          <a:noFill/>
          <a:ln/>
        </p:spPr>
        <p:txBody>
          <a:bodyPr wrap="square" lIns="0" tIns="0" rIns="0" bIns="0" rtlCol="0" anchor="t"/>
          <a:lstStyle/>
          <a:p>
            <a:pPr marL="0" indent="0">
              <a:buNone/>
            </a:pPr>
            <a:r>
              <a:rPr lang="en-US" sz="2800" dirty="0">
                <a:solidFill>
                  <a:srgbClr val="9B743E"/>
                </a:solidFill>
                <a:latin typeface="Calibri" pitchFamily="34" charset="0"/>
                <a:ea typeface="Calibri" pitchFamily="34" charset="-122"/>
                <a:cs typeface="Calibri" pitchFamily="34" charset="-120"/>
              </a:rPr>
              <a:t>0/42</a:t>
            </a:r>
            <a:endParaRPr lang="en-US" sz="2800" dirty="0"/>
          </a:p>
        </p:txBody>
      </p:sp>
      <p:sp>
        <p:nvSpPr>
          <p:cNvPr id="13" name="Shape 11"/>
          <p:cNvSpPr/>
          <p:nvPr/>
        </p:nvSpPr>
        <p:spPr>
          <a:xfrm>
            <a:off x="6400800" y="2642616"/>
            <a:ext cx="1325880" cy="91440"/>
          </a:xfrm>
          <a:prstGeom prst="rect">
            <a:avLst/>
          </a:prstGeom>
          <a:solidFill>
            <a:srgbClr val="F1F3F4"/>
          </a:solidFill>
          <a:ln w="12700">
            <a:solidFill>
              <a:srgbClr val="F1F3F4">
                <a:alpha val="0"/>
              </a:srgbClr>
            </a:solidFill>
            <a:prstDash val="solid"/>
          </a:ln>
        </p:spPr>
      </p:sp>
      <p:sp>
        <p:nvSpPr>
          <p:cNvPr id="14" name="Shape 12"/>
          <p:cNvSpPr/>
          <p:nvPr/>
        </p:nvSpPr>
        <p:spPr>
          <a:xfrm>
            <a:off x="6400800" y="2642616"/>
            <a:ext cx="1168037" cy="91440"/>
          </a:xfrm>
          <a:prstGeom prst="rect">
            <a:avLst/>
          </a:prstGeom>
          <a:solidFill>
            <a:srgbClr val="A14F3D"/>
          </a:solidFill>
          <a:ln w="12700">
            <a:solidFill>
              <a:srgbClr val="A14F3D">
                <a:alpha val="0"/>
              </a:srgbClr>
            </a:solidFill>
            <a:prstDash val="solid"/>
          </a:ln>
        </p:spPr>
      </p:sp>
      <p:sp>
        <p:nvSpPr>
          <p:cNvPr id="15" name="Shape 13"/>
          <p:cNvSpPr/>
          <p:nvPr/>
        </p:nvSpPr>
        <p:spPr>
          <a:xfrm>
            <a:off x="10149840" y="2642616"/>
            <a:ext cx="1325880" cy="91440"/>
          </a:xfrm>
          <a:prstGeom prst="rect">
            <a:avLst/>
          </a:prstGeom>
          <a:solidFill>
            <a:srgbClr val="F1F3F4"/>
          </a:solidFill>
          <a:ln w="12700">
            <a:solidFill>
              <a:srgbClr val="F1F3F4">
                <a:alpha val="0"/>
              </a:srgbClr>
            </a:solidFill>
            <a:prstDash val="solid"/>
          </a:ln>
        </p:spPr>
      </p:sp>
      <p:sp>
        <p:nvSpPr>
          <p:cNvPr id="16" name="Shape 14"/>
          <p:cNvSpPr/>
          <p:nvPr/>
        </p:nvSpPr>
        <p:spPr>
          <a:xfrm>
            <a:off x="621792" y="3008376"/>
            <a:ext cx="10948111" cy="91"/>
          </a:xfrm>
          <a:prstGeom prst="line">
            <a:avLst/>
          </a:prstGeom>
          <a:noFill/>
          <a:ln w="12700">
            <a:solidFill>
              <a:srgbClr val="D9DDE0"/>
            </a:solidFill>
            <a:prstDash val="solid"/>
          </a:ln>
        </p:spPr>
      </p:sp>
      <p:sp>
        <p:nvSpPr>
          <p:cNvPr id="17" name="Text 15"/>
          <p:cNvSpPr/>
          <p:nvPr/>
        </p:nvSpPr>
        <p:spPr>
          <a:xfrm>
            <a:off x="621792" y="3163824"/>
            <a:ext cx="356616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Mistral-7B</a:t>
            </a:r>
            <a:endParaRPr lang="en-US" sz="2100" dirty="0"/>
          </a:p>
        </p:txBody>
      </p:sp>
      <p:sp>
        <p:nvSpPr>
          <p:cNvPr id="18" name="Text 16"/>
          <p:cNvSpPr/>
          <p:nvPr/>
        </p:nvSpPr>
        <p:spPr>
          <a:xfrm>
            <a:off x="4572000" y="3163824"/>
            <a:ext cx="2011680" cy="420624"/>
          </a:xfrm>
          <a:prstGeom prst="rect">
            <a:avLst/>
          </a:prstGeom>
          <a:noFill/>
          <a:ln/>
        </p:spPr>
        <p:txBody>
          <a:bodyPr wrap="square" lIns="0" tIns="0" rIns="0" bIns="0" rtlCol="0" anchor="t"/>
          <a:lstStyle/>
          <a:p>
            <a:pPr marL="0" indent="0">
              <a:buNone/>
            </a:pPr>
            <a:r>
              <a:rPr lang="en-US" sz="2800" dirty="0">
                <a:solidFill>
                  <a:srgbClr val="A14F3D"/>
                </a:solidFill>
                <a:latin typeface="Calibri" pitchFamily="34" charset="0"/>
                <a:ea typeface="Calibri" pitchFamily="34" charset="-122"/>
                <a:cs typeface="Calibri" pitchFamily="34" charset="-120"/>
              </a:rPr>
              <a:t>73/96</a:t>
            </a:r>
            <a:endParaRPr lang="en-US" sz="2800" dirty="0"/>
          </a:p>
        </p:txBody>
      </p:sp>
      <p:sp>
        <p:nvSpPr>
          <p:cNvPr id="19" name="Text 17"/>
          <p:cNvSpPr/>
          <p:nvPr/>
        </p:nvSpPr>
        <p:spPr>
          <a:xfrm>
            <a:off x="8321040" y="3163824"/>
            <a:ext cx="2011680" cy="420624"/>
          </a:xfrm>
          <a:prstGeom prst="rect">
            <a:avLst/>
          </a:prstGeom>
          <a:noFill/>
          <a:ln/>
        </p:spPr>
        <p:txBody>
          <a:bodyPr wrap="square" lIns="0" tIns="0" rIns="0" bIns="0" rtlCol="0" anchor="t"/>
          <a:lstStyle/>
          <a:p>
            <a:pPr marL="0" indent="0">
              <a:buNone/>
            </a:pPr>
            <a:r>
              <a:rPr lang="en-US" sz="2800" dirty="0">
                <a:solidFill>
                  <a:srgbClr val="9B743E"/>
                </a:solidFill>
                <a:latin typeface="Calibri" pitchFamily="34" charset="0"/>
                <a:ea typeface="Calibri" pitchFamily="34" charset="-122"/>
                <a:cs typeface="Calibri" pitchFamily="34" charset="-120"/>
              </a:rPr>
              <a:t>26/96</a:t>
            </a:r>
            <a:endParaRPr lang="en-US" sz="2800" dirty="0"/>
          </a:p>
        </p:txBody>
      </p:sp>
      <p:sp>
        <p:nvSpPr>
          <p:cNvPr id="20" name="Shape 18"/>
          <p:cNvSpPr/>
          <p:nvPr/>
        </p:nvSpPr>
        <p:spPr>
          <a:xfrm>
            <a:off x="6400800" y="3291840"/>
            <a:ext cx="1325880" cy="91440"/>
          </a:xfrm>
          <a:prstGeom prst="rect">
            <a:avLst/>
          </a:prstGeom>
          <a:solidFill>
            <a:srgbClr val="F1F3F4"/>
          </a:solidFill>
          <a:ln w="12700">
            <a:solidFill>
              <a:srgbClr val="F1F3F4">
                <a:alpha val="0"/>
              </a:srgbClr>
            </a:solidFill>
            <a:prstDash val="solid"/>
          </a:ln>
        </p:spPr>
      </p:sp>
      <p:sp>
        <p:nvSpPr>
          <p:cNvPr id="21" name="Shape 19"/>
          <p:cNvSpPr/>
          <p:nvPr/>
        </p:nvSpPr>
        <p:spPr>
          <a:xfrm>
            <a:off x="6400800" y="3291840"/>
            <a:ext cx="1008221" cy="91440"/>
          </a:xfrm>
          <a:prstGeom prst="rect">
            <a:avLst/>
          </a:prstGeom>
          <a:solidFill>
            <a:srgbClr val="A14F3D"/>
          </a:solidFill>
          <a:ln w="12700">
            <a:solidFill>
              <a:srgbClr val="A14F3D">
                <a:alpha val="0"/>
              </a:srgbClr>
            </a:solidFill>
            <a:prstDash val="solid"/>
          </a:ln>
        </p:spPr>
      </p:sp>
      <p:sp>
        <p:nvSpPr>
          <p:cNvPr id="22" name="Shape 20"/>
          <p:cNvSpPr/>
          <p:nvPr/>
        </p:nvSpPr>
        <p:spPr>
          <a:xfrm>
            <a:off x="10149840" y="3291840"/>
            <a:ext cx="1325880" cy="91440"/>
          </a:xfrm>
          <a:prstGeom prst="rect">
            <a:avLst/>
          </a:prstGeom>
          <a:solidFill>
            <a:srgbClr val="F1F3F4"/>
          </a:solidFill>
          <a:ln w="12700">
            <a:solidFill>
              <a:srgbClr val="F1F3F4">
                <a:alpha val="0"/>
              </a:srgbClr>
            </a:solidFill>
            <a:prstDash val="solid"/>
          </a:ln>
        </p:spPr>
      </p:sp>
      <p:sp>
        <p:nvSpPr>
          <p:cNvPr id="23" name="Shape 21"/>
          <p:cNvSpPr/>
          <p:nvPr/>
        </p:nvSpPr>
        <p:spPr>
          <a:xfrm>
            <a:off x="10149840" y="3291840"/>
            <a:ext cx="359092" cy="91440"/>
          </a:xfrm>
          <a:prstGeom prst="rect">
            <a:avLst/>
          </a:prstGeom>
          <a:solidFill>
            <a:srgbClr val="9B743E"/>
          </a:solidFill>
          <a:ln w="12700">
            <a:solidFill>
              <a:srgbClr val="9B743E">
                <a:alpha val="0"/>
              </a:srgbClr>
            </a:solidFill>
            <a:prstDash val="solid"/>
          </a:ln>
        </p:spPr>
      </p:sp>
      <p:sp>
        <p:nvSpPr>
          <p:cNvPr id="24" name="Shape 22"/>
          <p:cNvSpPr/>
          <p:nvPr/>
        </p:nvSpPr>
        <p:spPr>
          <a:xfrm>
            <a:off x="621792" y="3657600"/>
            <a:ext cx="10948111" cy="91"/>
          </a:xfrm>
          <a:prstGeom prst="line">
            <a:avLst/>
          </a:prstGeom>
          <a:noFill/>
          <a:ln w="12700">
            <a:solidFill>
              <a:srgbClr val="D9DDE0"/>
            </a:solidFill>
            <a:prstDash val="solid"/>
          </a:ln>
        </p:spPr>
      </p:sp>
      <p:sp>
        <p:nvSpPr>
          <p:cNvPr id="25" name="Text 23"/>
          <p:cNvSpPr/>
          <p:nvPr/>
        </p:nvSpPr>
        <p:spPr>
          <a:xfrm>
            <a:off x="621792" y="3813048"/>
            <a:ext cx="356616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Qwen3-8B</a:t>
            </a:r>
            <a:endParaRPr lang="en-US" sz="2100" dirty="0"/>
          </a:p>
        </p:txBody>
      </p:sp>
      <p:sp>
        <p:nvSpPr>
          <p:cNvPr id="26" name="Text 24"/>
          <p:cNvSpPr/>
          <p:nvPr/>
        </p:nvSpPr>
        <p:spPr>
          <a:xfrm>
            <a:off x="4572000" y="3813048"/>
            <a:ext cx="2011680" cy="420624"/>
          </a:xfrm>
          <a:prstGeom prst="rect">
            <a:avLst/>
          </a:prstGeom>
          <a:noFill/>
          <a:ln/>
        </p:spPr>
        <p:txBody>
          <a:bodyPr wrap="square" lIns="0" tIns="0" rIns="0" bIns="0" rtlCol="0" anchor="t"/>
          <a:lstStyle/>
          <a:p>
            <a:pPr marL="0" indent="0">
              <a:buNone/>
            </a:pPr>
            <a:r>
              <a:rPr lang="en-US" sz="2800" dirty="0">
                <a:solidFill>
                  <a:srgbClr val="A14F3D"/>
                </a:solidFill>
                <a:latin typeface="Calibri" pitchFamily="34" charset="0"/>
                <a:ea typeface="Calibri" pitchFamily="34" charset="-122"/>
                <a:cs typeface="Calibri" pitchFamily="34" charset="-120"/>
              </a:rPr>
              <a:t>78/96</a:t>
            </a:r>
            <a:endParaRPr lang="en-US" sz="2800" dirty="0"/>
          </a:p>
        </p:txBody>
      </p:sp>
      <p:sp>
        <p:nvSpPr>
          <p:cNvPr id="27" name="Text 25"/>
          <p:cNvSpPr/>
          <p:nvPr/>
        </p:nvSpPr>
        <p:spPr>
          <a:xfrm>
            <a:off x="8321040" y="3813048"/>
            <a:ext cx="2011680" cy="420624"/>
          </a:xfrm>
          <a:prstGeom prst="rect">
            <a:avLst/>
          </a:prstGeom>
          <a:noFill/>
          <a:ln/>
        </p:spPr>
        <p:txBody>
          <a:bodyPr wrap="square" lIns="0" tIns="0" rIns="0" bIns="0" rtlCol="0" anchor="t"/>
          <a:lstStyle/>
          <a:p>
            <a:pPr marL="0" indent="0">
              <a:buNone/>
            </a:pPr>
            <a:r>
              <a:rPr lang="en-US" sz="2800" dirty="0">
                <a:solidFill>
                  <a:srgbClr val="9B743E"/>
                </a:solidFill>
                <a:latin typeface="Calibri" pitchFamily="34" charset="0"/>
                <a:ea typeface="Calibri" pitchFamily="34" charset="-122"/>
                <a:cs typeface="Calibri" pitchFamily="34" charset="-120"/>
              </a:rPr>
              <a:t>34/96</a:t>
            </a:r>
            <a:endParaRPr lang="en-US" sz="2800" dirty="0"/>
          </a:p>
        </p:txBody>
      </p:sp>
      <p:sp>
        <p:nvSpPr>
          <p:cNvPr id="28" name="Shape 26"/>
          <p:cNvSpPr/>
          <p:nvPr/>
        </p:nvSpPr>
        <p:spPr>
          <a:xfrm>
            <a:off x="6400800" y="3941064"/>
            <a:ext cx="1325880" cy="91440"/>
          </a:xfrm>
          <a:prstGeom prst="rect">
            <a:avLst/>
          </a:prstGeom>
          <a:solidFill>
            <a:srgbClr val="F1F3F4"/>
          </a:solidFill>
          <a:ln w="12700">
            <a:solidFill>
              <a:srgbClr val="F1F3F4">
                <a:alpha val="0"/>
              </a:srgbClr>
            </a:solidFill>
            <a:prstDash val="solid"/>
          </a:ln>
        </p:spPr>
      </p:sp>
      <p:sp>
        <p:nvSpPr>
          <p:cNvPr id="29" name="Shape 27"/>
          <p:cNvSpPr/>
          <p:nvPr/>
        </p:nvSpPr>
        <p:spPr>
          <a:xfrm>
            <a:off x="6400800" y="3941064"/>
            <a:ext cx="1077277" cy="91440"/>
          </a:xfrm>
          <a:prstGeom prst="rect">
            <a:avLst/>
          </a:prstGeom>
          <a:solidFill>
            <a:srgbClr val="A14F3D"/>
          </a:solidFill>
          <a:ln w="12700">
            <a:solidFill>
              <a:srgbClr val="A14F3D">
                <a:alpha val="0"/>
              </a:srgbClr>
            </a:solidFill>
            <a:prstDash val="solid"/>
          </a:ln>
        </p:spPr>
      </p:sp>
      <p:sp>
        <p:nvSpPr>
          <p:cNvPr id="30" name="Shape 28"/>
          <p:cNvSpPr/>
          <p:nvPr/>
        </p:nvSpPr>
        <p:spPr>
          <a:xfrm>
            <a:off x="10149840" y="3941064"/>
            <a:ext cx="1325880" cy="91440"/>
          </a:xfrm>
          <a:prstGeom prst="rect">
            <a:avLst/>
          </a:prstGeom>
          <a:solidFill>
            <a:srgbClr val="F1F3F4"/>
          </a:solidFill>
          <a:ln w="12700">
            <a:solidFill>
              <a:srgbClr val="F1F3F4">
                <a:alpha val="0"/>
              </a:srgbClr>
            </a:solidFill>
            <a:prstDash val="solid"/>
          </a:ln>
        </p:spPr>
      </p:sp>
      <p:sp>
        <p:nvSpPr>
          <p:cNvPr id="31" name="Shape 29"/>
          <p:cNvSpPr/>
          <p:nvPr/>
        </p:nvSpPr>
        <p:spPr>
          <a:xfrm>
            <a:off x="10149840" y="3941064"/>
            <a:ext cx="469583" cy="91440"/>
          </a:xfrm>
          <a:prstGeom prst="rect">
            <a:avLst/>
          </a:prstGeom>
          <a:solidFill>
            <a:srgbClr val="9B743E"/>
          </a:solidFill>
          <a:ln w="12700">
            <a:solidFill>
              <a:srgbClr val="9B743E">
                <a:alpha val="0"/>
              </a:srgbClr>
            </a:solidFill>
            <a:prstDash val="solid"/>
          </a:ln>
        </p:spPr>
      </p:sp>
      <p:sp>
        <p:nvSpPr>
          <p:cNvPr id="32" name="Shape 30"/>
          <p:cNvSpPr/>
          <p:nvPr/>
        </p:nvSpPr>
        <p:spPr>
          <a:xfrm>
            <a:off x="621792" y="4306824"/>
            <a:ext cx="10948111" cy="91"/>
          </a:xfrm>
          <a:prstGeom prst="line">
            <a:avLst/>
          </a:prstGeom>
          <a:noFill/>
          <a:ln w="12700">
            <a:solidFill>
              <a:srgbClr val="D9DDE0"/>
            </a:solidFill>
            <a:prstDash val="solid"/>
          </a:ln>
        </p:spPr>
      </p:sp>
      <p:sp>
        <p:nvSpPr>
          <p:cNvPr id="33" name="Text 31"/>
          <p:cNvSpPr/>
          <p:nvPr/>
        </p:nvSpPr>
        <p:spPr>
          <a:xfrm>
            <a:off x="621792" y="4462272"/>
            <a:ext cx="356616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Qwen3-32B</a:t>
            </a:r>
            <a:endParaRPr lang="en-US" sz="2100" dirty="0"/>
          </a:p>
        </p:txBody>
      </p:sp>
      <p:sp>
        <p:nvSpPr>
          <p:cNvPr id="34" name="Text 32"/>
          <p:cNvSpPr/>
          <p:nvPr/>
        </p:nvSpPr>
        <p:spPr>
          <a:xfrm>
            <a:off x="4572000" y="4462272"/>
            <a:ext cx="2011680" cy="420624"/>
          </a:xfrm>
          <a:prstGeom prst="rect">
            <a:avLst/>
          </a:prstGeom>
          <a:noFill/>
          <a:ln/>
        </p:spPr>
        <p:txBody>
          <a:bodyPr wrap="square" lIns="0" tIns="0" rIns="0" bIns="0" rtlCol="0" anchor="t"/>
          <a:lstStyle/>
          <a:p>
            <a:pPr marL="0" indent="0">
              <a:buNone/>
            </a:pPr>
            <a:r>
              <a:rPr lang="en-US" sz="2800" dirty="0">
                <a:solidFill>
                  <a:srgbClr val="A14F3D"/>
                </a:solidFill>
                <a:latin typeface="Calibri" pitchFamily="34" charset="0"/>
                <a:ea typeface="Calibri" pitchFamily="34" charset="-122"/>
                <a:cs typeface="Calibri" pitchFamily="34" charset="-120"/>
              </a:rPr>
              <a:t>86/96</a:t>
            </a:r>
            <a:endParaRPr lang="en-US" sz="2800" dirty="0"/>
          </a:p>
        </p:txBody>
      </p:sp>
      <p:sp>
        <p:nvSpPr>
          <p:cNvPr id="35" name="Text 33"/>
          <p:cNvSpPr/>
          <p:nvPr/>
        </p:nvSpPr>
        <p:spPr>
          <a:xfrm>
            <a:off x="8321040" y="4462272"/>
            <a:ext cx="2011680" cy="420624"/>
          </a:xfrm>
          <a:prstGeom prst="rect">
            <a:avLst/>
          </a:prstGeom>
          <a:noFill/>
          <a:ln/>
        </p:spPr>
        <p:txBody>
          <a:bodyPr wrap="square" lIns="0" tIns="0" rIns="0" bIns="0" rtlCol="0" anchor="t"/>
          <a:lstStyle/>
          <a:p>
            <a:pPr marL="0" indent="0">
              <a:buNone/>
            </a:pPr>
            <a:r>
              <a:rPr lang="en-US" sz="2800" dirty="0">
                <a:solidFill>
                  <a:srgbClr val="9B743E"/>
                </a:solidFill>
                <a:latin typeface="Calibri" pitchFamily="34" charset="0"/>
                <a:ea typeface="Calibri" pitchFamily="34" charset="-122"/>
                <a:cs typeface="Calibri" pitchFamily="34" charset="-120"/>
              </a:rPr>
              <a:t>15/96</a:t>
            </a:r>
            <a:endParaRPr lang="en-US" sz="2800" dirty="0"/>
          </a:p>
        </p:txBody>
      </p:sp>
      <p:sp>
        <p:nvSpPr>
          <p:cNvPr id="36" name="Shape 34"/>
          <p:cNvSpPr/>
          <p:nvPr/>
        </p:nvSpPr>
        <p:spPr>
          <a:xfrm>
            <a:off x="6400800" y="4590288"/>
            <a:ext cx="1325880" cy="91440"/>
          </a:xfrm>
          <a:prstGeom prst="rect">
            <a:avLst/>
          </a:prstGeom>
          <a:solidFill>
            <a:srgbClr val="F1F3F4"/>
          </a:solidFill>
          <a:ln w="12700">
            <a:solidFill>
              <a:srgbClr val="F1F3F4">
                <a:alpha val="0"/>
              </a:srgbClr>
            </a:solidFill>
            <a:prstDash val="solid"/>
          </a:ln>
        </p:spPr>
      </p:sp>
      <p:sp>
        <p:nvSpPr>
          <p:cNvPr id="37" name="Shape 35"/>
          <p:cNvSpPr/>
          <p:nvPr/>
        </p:nvSpPr>
        <p:spPr>
          <a:xfrm>
            <a:off x="6400800" y="4590288"/>
            <a:ext cx="1187768" cy="91440"/>
          </a:xfrm>
          <a:prstGeom prst="rect">
            <a:avLst/>
          </a:prstGeom>
          <a:solidFill>
            <a:srgbClr val="A14F3D"/>
          </a:solidFill>
          <a:ln w="12700">
            <a:solidFill>
              <a:srgbClr val="A14F3D">
                <a:alpha val="0"/>
              </a:srgbClr>
            </a:solidFill>
            <a:prstDash val="solid"/>
          </a:ln>
        </p:spPr>
      </p:sp>
      <p:sp>
        <p:nvSpPr>
          <p:cNvPr id="38" name="Shape 36"/>
          <p:cNvSpPr/>
          <p:nvPr/>
        </p:nvSpPr>
        <p:spPr>
          <a:xfrm>
            <a:off x="10149840" y="4590288"/>
            <a:ext cx="1325880" cy="91440"/>
          </a:xfrm>
          <a:prstGeom prst="rect">
            <a:avLst/>
          </a:prstGeom>
          <a:solidFill>
            <a:srgbClr val="F1F3F4"/>
          </a:solidFill>
          <a:ln w="12700">
            <a:solidFill>
              <a:srgbClr val="F1F3F4">
                <a:alpha val="0"/>
              </a:srgbClr>
            </a:solidFill>
            <a:prstDash val="solid"/>
          </a:ln>
        </p:spPr>
      </p:sp>
      <p:sp>
        <p:nvSpPr>
          <p:cNvPr id="39" name="Shape 37"/>
          <p:cNvSpPr/>
          <p:nvPr/>
        </p:nvSpPr>
        <p:spPr>
          <a:xfrm>
            <a:off x="10149840" y="4590288"/>
            <a:ext cx="207169" cy="91440"/>
          </a:xfrm>
          <a:prstGeom prst="rect">
            <a:avLst/>
          </a:prstGeom>
          <a:solidFill>
            <a:srgbClr val="9B743E"/>
          </a:solidFill>
          <a:ln w="12700">
            <a:solidFill>
              <a:srgbClr val="9B743E">
                <a:alpha val="0"/>
              </a:srgbClr>
            </a:solidFill>
            <a:prstDash val="solid"/>
          </a:ln>
        </p:spPr>
      </p:sp>
      <p:sp>
        <p:nvSpPr>
          <p:cNvPr id="40" name="Text 38"/>
          <p:cNvSpPr/>
          <p:nvPr/>
        </p:nvSpPr>
        <p:spPr>
          <a:xfrm>
            <a:off x="621792" y="5486400"/>
            <a:ext cx="10789920" cy="457200"/>
          </a:xfrm>
          <a:prstGeom prst="rect">
            <a:avLst/>
          </a:prstGeom>
          <a:noFill/>
          <a:ln/>
        </p:spPr>
        <p:txBody>
          <a:bodyPr wrap="square" lIns="0" tIns="0" rIns="0" bIns="0" rtlCol="0" anchor="t"/>
          <a:lstStyle/>
          <a:p>
            <a:pPr marL="0" indent="0">
              <a:buNone/>
            </a:pPr>
            <a:r>
              <a:rPr lang="en-US" sz="2400" b="1" dirty="0">
                <a:solidFill>
                  <a:srgbClr val="26282A"/>
                </a:solidFill>
                <a:latin typeface="Calibri" pitchFamily="34" charset="0"/>
                <a:ea typeface="Calibri" pitchFamily="34" charset="-122"/>
                <a:cs typeface="Calibri" pitchFamily="34" charset="-120"/>
              </a:rPr>
              <a:t>La utilidad depende de cuánto detecta y de cuánto bloquea por error.</a:t>
            </a:r>
            <a:endParaRPr lang="en-US" sz="2400" dirty="0"/>
          </a:p>
        </p:txBody>
      </p:sp>
      <p:sp>
        <p:nvSpPr>
          <p:cNvPr id="41" name="Text 39"/>
          <p:cNvSpPr/>
          <p:nvPr/>
        </p:nvSpPr>
        <p:spPr>
          <a:xfrm>
            <a:off x="621792" y="5961888"/>
            <a:ext cx="10789920" cy="292608"/>
          </a:xfrm>
          <a:prstGeom prst="rect">
            <a:avLst/>
          </a:prstGeom>
          <a:noFill/>
          <a:ln/>
        </p:spPr>
        <p:txBody>
          <a:bodyPr wrap="square" lIns="0" tIns="0" rIns="0" bIns="0" rtlCol="0" anchor="t"/>
          <a:lstStyle/>
          <a:p>
            <a:pPr marL="0" indent="0">
              <a:buNone/>
            </a:pPr>
            <a:r>
              <a:rPr lang="en-US" sz="1700" dirty="0">
                <a:solidFill>
                  <a:srgbClr val="50565C"/>
                </a:solidFill>
                <a:latin typeface="Calibri" pitchFamily="34" charset="0"/>
                <a:ea typeface="Calibri" pitchFamily="34" charset="-122"/>
                <a:cs typeface="Calibri" pitchFamily="34" charset="-120"/>
              </a:rPr>
              <a:t>Cero falsas alarmas observadas en Llama no asegura un riesgo nulo.</a:t>
            </a:r>
            <a:endParaRPr lang="en-US" sz="1700" dirty="0"/>
          </a:p>
        </p:txBody>
      </p:sp>
      <p:sp>
        <p:nvSpPr>
          <p:cNvPr id="42" name="Text 40"/>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Fuera de fold; umbral calibrado en entrenamiento. Llama: monitor logístico, 42 pares; los otros: 96. Sin validación externa.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Resultado 5 · intervención</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Forzar el rechazo también puede bloquear solicitudes benignas</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12</a:t>
            </a:r>
            <a:endParaRPr lang="en-US" sz="1100" dirty="0"/>
          </a:p>
        </p:txBody>
      </p:sp>
      <p:sp>
        <p:nvSpPr>
          <p:cNvPr id="6" name="Text 4"/>
          <p:cNvSpPr/>
          <p:nvPr/>
        </p:nvSpPr>
        <p:spPr>
          <a:xfrm>
            <a:off x="621792" y="1965960"/>
            <a:ext cx="1078992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Una de las intensidades probadas en Llama</a:t>
            </a:r>
            <a:endParaRPr lang="en-US" sz="1200" dirty="0"/>
          </a:p>
        </p:txBody>
      </p:sp>
      <p:sp>
        <p:nvSpPr>
          <p:cNvPr id="7" name="Text 5"/>
          <p:cNvSpPr/>
          <p:nvPr/>
        </p:nvSpPr>
        <p:spPr>
          <a:xfrm>
            <a:off x="1005840" y="2487168"/>
            <a:ext cx="4343400" cy="502920"/>
          </a:xfrm>
          <a:prstGeom prst="rect">
            <a:avLst/>
          </a:prstGeom>
          <a:noFill/>
          <a:ln/>
        </p:spPr>
        <p:txBody>
          <a:bodyPr wrap="square" lIns="0" tIns="0" rIns="0" bIns="0" rtlCol="0" anchor="t"/>
          <a:lstStyle/>
          <a:p>
            <a:pPr marL="0" indent="0">
              <a:buNone/>
            </a:pPr>
            <a:r>
              <a:rPr lang="en-US" sz="2500" b="1" dirty="0">
                <a:solidFill>
                  <a:srgbClr val="A14F3D"/>
                </a:solidFill>
                <a:latin typeface="Calibri" pitchFamily="34" charset="0"/>
                <a:ea typeface="Calibri" pitchFamily="34" charset="-122"/>
                <a:cs typeface="Calibri" pitchFamily="34" charset="-120"/>
              </a:rPr>
              <a:t>Dañinas rechazadas</a:t>
            </a:r>
            <a:endParaRPr lang="en-US" sz="2500" dirty="0"/>
          </a:p>
        </p:txBody>
      </p:sp>
      <p:sp>
        <p:nvSpPr>
          <p:cNvPr id="8" name="Text 6"/>
          <p:cNvSpPr/>
          <p:nvPr/>
        </p:nvSpPr>
        <p:spPr>
          <a:xfrm>
            <a:off x="1005840" y="3154680"/>
            <a:ext cx="4343400" cy="1051560"/>
          </a:xfrm>
          <a:prstGeom prst="rect">
            <a:avLst/>
          </a:prstGeom>
          <a:noFill/>
          <a:ln/>
        </p:spPr>
        <p:txBody>
          <a:bodyPr wrap="square" lIns="0" tIns="0" rIns="0" bIns="0" rtlCol="0" anchor="t"/>
          <a:lstStyle/>
          <a:p>
            <a:pPr marL="0" indent="0">
              <a:buNone/>
            </a:pPr>
            <a:r>
              <a:rPr lang="en-US" sz="7000" b="1" dirty="0">
                <a:solidFill>
                  <a:srgbClr val="A14F3D"/>
                </a:solidFill>
                <a:latin typeface="Calibri" pitchFamily="34" charset="0"/>
                <a:ea typeface="Calibri" pitchFamily="34" charset="-122"/>
                <a:cs typeface="Calibri" pitchFamily="34" charset="-120"/>
              </a:rPr>
              <a:t>19/19</a:t>
            </a:r>
            <a:endParaRPr lang="en-US" sz="7000" dirty="0"/>
          </a:p>
        </p:txBody>
      </p:sp>
      <p:sp>
        <p:nvSpPr>
          <p:cNvPr id="9" name="Shape 7"/>
          <p:cNvSpPr/>
          <p:nvPr/>
        </p:nvSpPr>
        <p:spPr>
          <a:xfrm>
            <a:off x="1005840" y="4526280"/>
            <a:ext cx="4114800" cy="164592"/>
          </a:xfrm>
          <a:prstGeom prst="rect">
            <a:avLst/>
          </a:prstGeom>
          <a:solidFill>
            <a:srgbClr val="F1F3F4"/>
          </a:solidFill>
          <a:ln w="12700">
            <a:solidFill>
              <a:srgbClr val="F1F3F4">
                <a:alpha val="0"/>
              </a:srgbClr>
            </a:solidFill>
            <a:prstDash val="solid"/>
          </a:ln>
        </p:spPr>
      </p:sp>
      <p:sp>
        <p:nvSpPr>
          <p:cNvPr id="10" name="Shape 8"/>
          <p:cNvSpPr/>
          <p:nvPr/>
        </p:nvSpPr>
        <p:spPr>
          <a:xfrm>
            <a:off x="1005840" y="4526280"/>
            <a:ext cx="4114800" cy="164592"/>
          </a:xfrm>
          <a:prstGeom prst="rect">
            <a:avLst/>
          </a:prstGeom>
          <a:solidFill>
            <a:srgbClr val="A14F3D"/>
          </a:solidFill>
          <a:ln w="12700">
            <a:solidFill>
              <a:srgbClr val="A14F3D">
                <a:alpha val="0"/>
              </a:srgbClr>
            </a:solidFill>
            <a:prstDash val="solid"/>
          </a:ln>
        </p:spPr>
      </p:sp>
      <p:sp>
        <p:nvSpPr>
          <p:cNvPr id="11" name="Text 9"/>
          <p:cNvSpPr/>
          <p:nvPr/>
        </p:nvSpPr>
        <p:spPr>
          <a:xfrm>
            <a:off x="6858000" y="2487168"/>
            <a:ext cx="4343400" cy="502920"/>
          </a:xfrm>
          <a:prstGeom prst="rect">
            <a:avLst/>
          </a:prstGeom>
          <a:noFill/>
          <a:ln/>
        </p:spPr>
        <p:txBody>
          <a:bodyPr wrap="square" lIns="0" tIns="0" rIns="0" bIns="0" rtlCol="0" anchor="t"/>
          <a:lstStyle/>
          <a:p>
            <a:pPr marL="0" indent="0">
              <a:buNone/>
            </a:pPr>
            <a:r>
              <a:rPr lang="en-US" sz="2500" b="1" dirty="0">
                <a:solidFill>
                  <a:srgbClr val="416879"/>
                </a:solidFill>
                <a:latin typeface="Calibri" pitchFamily="34" charset="0"/>
                <a:ea typeface="Calibri" pitchFamily="34" charset="-122"/>
                <a:cs typeface="Calibri" pitchFamily="34" charset="-120"/>
              </a:rPr>
              <a:t>Benignas rechazadas</a:t>
            </a:r>
            <a:endParaRPr lang="en-US" sz="2500" dirty="0"/>
          </a:p>
        </p:txBody>
      </p:sp>
      <p:sp>
        <p:nvSpPr>
          <p:cNvPr id="12" name="Text 10"/>
          <p:cNvSpPr/>
          <p:nvPr/>
        </p:nvSpPr>
        <p:spPr>
          <a:xfrm>
            <a:off x="6858000" y="3154680"/>
            <a:ext cx="4343400" cy="1051560"/>
          </a:xfrm>
          <a:prstGeom prst="rect">
            <a:avLst/>
          </a:prstGeom>
          <a:noFill/>
          <a:ln/>
        </p:spPr>
        <p:txBody>
          <a:bodyPr wrap="square" lIns="0" tIns="0" rIns="0" bIns="0" rtlCol="0" anchor="t"/>
          <a:lstStyle/>
          <a:p>
            <a:pPr marL="0" indent="0">
              <a:buNone/>
            </a:pPr>
            <a:r>
              <a:rPr lang="en-US" sz="7000" b="1" dirty="0">
                <a:solidFill>
                  <a:srgbClr val="416879"/>
                </a:solidFill>
                <a:latin typeface="Calibri" pitchFamily="34" charset="0"/>
                <a:ea typeface="Calibri" pitchFamily="34" charset="-122"/>
                <a:cs typeface="Calibri" pitchFamily="34" charset="-120"/>
              </a:rPr>
              <a:t>40/41</a:t>
            </a:r>
            <a:endParaRPr lang="en-US" sz="7000" dirty="0"/>
          </a:p>
        </p:txBody>
      </p:sp>
      <p:sp>
        <p:nvSpPr>
          <p:cNvPr id="13" name="Shape 11"/>
          <p:cNvSpPr/>
          <p:nvPr/>
        </p:nvSpPr>
        <p:spPr>
          <a:xfrm>
            <a:off x="6858000" y="4526280"/>
            <a:ext cx="4114800" cy="164592"/>
          </a:xfrm>
          <a:prstGeom prst="rect">
            <a:avLst/>
          </a:prstGeom>
          <a:solidFill>
            <a:srgbClr val="F1F3F4"/>
          </a:solidFill>
          <a:ln w="12700">
            <a:solidFill>
              <a:srgbClr val="F1F3F4">
                <a:alpha val="0"/>
              </a:srgbClr>
            </a:solidFill>
            <a:prstDash val="solid"/>
          </a:ln>
        </p:spPr>
      </p:sp>
      <p:sp>
        <p:nvSpPr>
          <p:cNvPr id="14" name="Shape 12"/>
          <p:cNvSpPr/>
          <p:nvPr/>
        </p:nvSpPr>
        <p:spPr>
          <a:xfrm>
            <a:off x="6858000" y="4526280"/>
            <a:ext cx="4014439" cy="164592"/>
          </a:xfrm>
          <a:prstGeom prst="rect">
            <a:avLst/>
          </a:prstGeom>
          <a:solidFill>
            <a:srgbClr val="416879"/>
          </a:solidFill>
          <a:ln w="12700">
            <a:solidFill>
              <a:srgbClr val="416879">
                <a:alpha val="0"/>
              </a:srgbClr>
            </a:solidFill>
            <a:prstDash val="solid"/>
          </a:ln>
        </p:spPr>
      </p:sp>
      <p:sp>
        <p:nvSpPr>
          <p:cNvPr id="15" name="Text 13"/>
          <p:cNvSpPr/>
          <p:nvPr/>
        </p:nvSpPr>
        <p:spPr>
          <a:xfrm>
            <a:off x="621792" y="5376672"/>
            <a:ext cx="10789920" cy="457200"/>
          </a:xfrm>
          <a:prstGeom prst="rect">
            <a:avLst/>
          </a:prstGeom>
          <a:noFill/>
          <a:ln/>
        </p:spPr>
        <p:txBody>
          <a:bodyPr wrap="square" lIns="0" tIns="0" rIns="0" bIns="0" rtlCol="0" anchor="t"/>
          <a:lstStyle/>
          <a:p>
            <a:pPr marL="0" indent="0">
              <a:buNone/>
            </a:pPr>
            <a:r>
              <a:rPr lang="en-US" sz="2500" b="1" dirty="0">
                <a:solidFill>
                  <a:srgbClr val="26282A"/>
                </a:solidFill>
                <a:latin typeface="Calibri" pitchFamily="34" charset="0"/>
                <a:ea typeface="Calibri" pitchFamily="34" charset="-122"/>
                <a:cs typeface="Calibri" pitchFamily="34" charset="-120"/>
              </a:rPr>
              <a:t>Cambiar la conducta no garantiza un rechazo selectivo.</a:t>
            </a:r>
            <a:endParaRPr lang="en-US" sz="2500" dirty="0"/>
          </a:p>
        </p:txBody>
      </p:sp>
      <p:sp>
        <p:nvSpPr>
          <p:cNvPr id="16" name="Text 14"/>
          <p:cNvSpPr/>
          <p:nvPr/>
        </p:nvSpPr>
        <p:spPr>
          <a:xfrm>
            <a:off x="621792" y="5897880"/>
            <a:ext cx="10789920" cy="320040"/>
          </a:xfrm>
          <a:prstGeom prst="rect">
            <a:avLst/>
          </a:prstGeom>
          <a:noFill/>
          <a:ln/>
        </p:spPr>
        <p:txBody>
          <a:bodyPr wrap="square" lIns="0" tIns="0" rIns="0" bIns="0" rtlCol="0" anchor="t"/>
          <a:lstStyle/>
          <a:p>
            <a:pPr marL="0" indent="0">
              <a:buNone/>
            </a:pPr>
            <a:r>
              <a:rPr lang="en-US" sz="1800" dirty="0">
                <a:solidFill>
                  <a:srgbClr val="50565C"/>
                </a:solidFill>
                <a:latin typeface="Calibri" pitchFamily="34" charset="0"/>
                <a:ea typeface="Calibri" pitchFamily="34" charset="-122"/>
                <a:cs typeface="Calibri" pitchFamily="34" charset="-120"/>
              </a:rPr>
              <a:t>Control con dirección aleatoria: 1/19 dañinas rechazadas.</a:t>
            </a:r>
            <a:endParaRPr lang="en-US" sz="1800" dirty="0"/>
          </a:p>
        </p:txBody>
      </p:sp>
      <p:sp>
        <p:nvSpPr>
          <p:cNvPr id="17" name="Text 15"/>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Ensayo exploratorio: Llama, capa 56, dosis 2. Subconjuntos que no rechazaban en agente; no se presenta como solución de seguridad.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Qué aporta la tesis</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La respuesta es sí, pero con menos margen</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13</a:t>
            </a:r>
            <a:endParaRPr lang="en-US" sz="1100" dirty="0"/>
          </a:p>
        </p:txBody>
      </p:sp>
      <p:sp>
        <p:nvSpPr>
          <p:cNvPr id="6" name="Text 4"/>
          <p:cNvSpPr/>
          <p:nvPr/>
        </p:nvSpPr>
        <p:spPr>
          <a:xfrm>
            <a:off x="621792" y="2103120"/>
            <a:ext cx="6400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417320" y="2048256"/>
            <a:ext cx="9875520" cy="54864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La señal conserva parte de su capacidad de separar.</a:t>
            </a:r>
            <a:endParaRPr lang="en-US" sz="2700" dirty="0"/>
          </a:p>
        </p:txBody>
      </p:sp>
      <p:sp>
        <p:nvSpPr>
          <p:cNvPr id="8" name="Text 6"/>
          <p:cNvSpPr/>
          <p:nvPr/>
        </p:nvSpPr>
        <p:spPr>
          <a:xfrm>
            <a:off x="621792" y="2871216"/>
            <a:ext cx="6400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1417320" y="2816352"/>
            <a:ext cx="9875520" cy="54864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El efecto depende del modelo y del contexto.</a:t>
            </a:r>
            <a:endParaRPr lang="en-US" sz="2700" dirty="0"/>
          </a:p>
        </p:txBody>
      </p:sp>
      <p:sp>
        <p:nvSpPr>
          <p:cNvPr id="10" name="Text 8"/>
          <p:cNvSpPr/>
          <p:nvPr/>
        </p:nvSpPr>
        <p:spPr>
          <a:xfrm>
            <a:off x="621792" y="3639312"/>
            <a:ext cx="640080" cy="256032"/>
          </a:xfrm>
          <a:prstGeom prst="rect">
            <a:avLst/>
          </a:prstGeom>
          <a:noFill/>
          <a:ln/>
        </p:spPr>
        <p:txBody>
          <a:bodyPr wrap="square" lIns="0" tIns="0" rIns="0" bIns="0" rtlCol="0" anchor="t"/>
          <a:lstStyle/>
          <a:p>
            <a:pPr marL="0" indent="0">
              <a:buNone/>
            </a:pPr>
            <a:r>
              <a:rPr lang="en-US" sz="1200" b="1" dirty="0">
                <a:solidFill>
                  <a:srgbClr val="9B743E"/>
                </a:solidFill>
                <a:latin typeface="Calibri" pitchFamily="34" charset="0"/>
                <a:ea typeface="Calibri" pitchFamily="34" charset="-122"/>
                <a:cs typeface="Calibri" pitchFamily="34" charset="-120"/>
              </a:rPr>
              <a:t>03</a:t>
            </a:r>
            <a:endParaRPr lang="en-US" sz="1200" dirty="0"/>
          </a:p>
        </p:txBody>
      </p:sp>
      <p:sp>
        <p:nvSpPr>
          <p:cNvPr id="11" name="Text 9"/>
          <p:cNvSpPr/>
          <p:nvPr/>
        </p:nvSpPr>
        <p:spPr>
          <a:xfrm>
            <a:off x="1417320" y="3584448"/>
            <a:ext cx="9875520" cy="548640"/>
          </a:xfrm>
          <a:prstGeom prst="rect">
            <a:avLst/>
          </a:prstGeom>
          <a:noFill/>
          <a:ln/>
        </p:spPr>
        <p:txBody>
          <a:bodyPr wrap="square" lIns="0" tIns="0" rIns="0" bIns="0" rtlCol="0" anchor="t"/>
          <a:lstStyle/>
          <a:p>
            <a:pPr marL="0" indent="0">
              <a:buNone/>
            </a:pPr>
            <a:r>
              <a:rPr lang="en-US" sz="2700" b="1" dirty="0">
                <a:solidFill>
                  <a:srgbClr val="26282A"/>
                </a:solidFill>
                <a:latin typeface="Calibri" pitchFamily="34" charset="0"/>
                <a:ea typeface="Calibri" pitchFamily="34" charset="-122"/>
                <a:cs typeface="Calibri" pitchFamily="34" charset="-120"/>
              </a:rPr>
              <a:t>Recuperar detección o rechazo tiene costos.</a:t>
            </a:r>
            <a:endParaRPr lang="en-US" sz="2700" dirty="0"/>
          </a:p>
        </p:txBody>
      </p:sp>
      <p:sp>
        <p:nvSpPr>
          <p:cNvPr id="12" name="Shape 10"/>
          <p:cNvSpPr/>
          <p:nvPr/>
        </p:nvSpPr>
        <p:spPr>
          <a:xfrm>
            <a:off x="621792" y="4590288"/>
            <a:ext cx="10948111" cy="91"/>
          </a:xfrm>
          <a:prstGeom prst="line">
            <a:avLst/>
          </a:prstGeom>
          <a:noFill/>
          <a:ln w="12700">
            <a:solidFill>
              <a:srgbClr val="D9DDE0"/>
            </a:solidFill>
            <a:prstDash val="solid"/>
          </a:ln>
        </p:spPr>
      </p:sp>
      <p:sp>
        <p:nvSpPr>
          <p:cNvPr id="13" name="Text 11"/>
          <p:cNvSpPr/>
          <p:nvPr/>
        </p:nvSpPr>
        <p:spPr>
          <a:xfrm>
            <a:off x="621792" y="4846320"/>
            <a:ext cx="10789920" cy="365760"/>
          </a:xfrm>
          <a:prstGeom prst="rect">
            <a:avLst/>
          </a:prstGeom>
          <a:noFill/>
          <a:ln/>
        </p:spPr>
        <p:txBody>
          <a:bodyPr wrap="square" lIns="0" tIns="0" rIns="0" bIns="0" rtlCol="0" anchor="t"/>
          <a:lstStyle/>
          <a:p>
            <a:pPr marL="0" indent="0">
              <a:buNone/>
            </a:pPr>
            <a:r>
              <a:rPr lang="en-US" sz="2100" b="1" dirty="0">
                <a:solidFill>
                  <a:srgbClr val="26282A"/>
                </a:solidFill>
                <a:latin typeface="Calibri" pitchFamily="34" charset="0"/>
                <a:ea typeface="Calibri" pitchFamily="34" charset="-122"/>
                <a:cs typeface="Calibri" pitchFamily="34" charset="-120"/>
              </a:rPr>
              <a:t>Hasta dónde llega la evidencia</a:t>
            </a:r>
            <a:endParaRPr lang="en-US" sz="2100" dirty="0"/>
          </a:p>
        </p:txBody>
      </p:sp>
      <p:sp>
        <p:nvSpPr>
          <p:cNvPr id="14" name="Text 12"/>
          <p:cNvSpPr/>
          <p:nvPr/>
        </p:nvSpPr>
        <p:spPr>
          <a:xfrm>
            <a:off x="621792" y="5321808"/>
            <a:ext cx="10789920" cy="868680"/>
          </a:xfrm>
          <a:prstGeom prst="rect">
            <a:avLst/>
          </a:prstGeom>
          <a:noFill/>
          <a:ln/>
        </p:spPr>
        <p:txBody>
          <a:bodyPr wrap="square" lIns="0" tIns="0" rIns="0" bIns="0" rtlCol="0" anchor="t"/>
          <a:lstStyle/>
          <a:p>
            <a:pPr marL="0" indent="0">
              <a:buNone/>
            </a:pPr>
            <a:r>
              <a:rPr lang="en-US" sz="2000" dirty="0">
                <a:solidFill>
                  <a:srgbClr val="50565C"/>
                </a:solidFill>
                <a:latin typeface="Calibri" pitchFamily="34" charset="0"/>
                <a:ea typeface="Calibri" pitchFamily="34" charset="-122"/>
                <a:cs typeface="Calibri" pitchFamily="34" charset="-120"/>
              </a:rPr>
              <a:t>Un turno y herramientas sin ejecución.</a:t>
            </a:r>
            <a:endParaRPr lang="en-US" sz="2000" dirty="0"/>
          </a:p>
          <a:p>
            <a:pPr marL="0" indent="0">
              <a:buNone/>
            </a:pPr>
            <a:r>
              <a:rPr lang="en-US" sz="2000" dirty="0">
                <a:solidFill>
                  <a:srgbClr val="50565C"/>
                </a:solidFill>
                <a:latin typeface="Calibri" pitchFamily="34" charset="0"/>
                <a:ea typeface="Calibri" pitchFamily="34" charset="-122"/>
                <a:cs typeface="Calibri" pitchFamily="34" charset="-120"/>
              </a:rPr>
              <a:t>Etiquetas y permisos requieren revisión.</a:t>
            </a:r>
            <a:endParaRPr lang="en-US" sz="2000" dirty="0"/>
          </a:p>
          <a:p>
            <a:pPr marL="0" indent="0">
              <a:buNone/>
            </a:pPr>
            <a:r>
              <a:rPr lang="en-US" sz="2000" dirty="0">
                <a:solidFill>
                  <a:srgbClr val="50565C"/>
                </a:solidFill>
                <a:latin typeface="Calibri" pitchFamily="34" charset="0"/>
                <a:ea typeface="Calibri" pitchFamily="34" charset="-122"/>
                <a:cs typeface="Calibri" pitchFamily="34" charset="-120"/>
              </a:rPr>
              <a:t>Monitores sin validación con datos externos.</a:t>
            </a:r>
            <a:endParaRPr lang="en-US" sz="2000" dirty="0"/>
          </a:p>
        </p:txBody>
      </p:sp>
      <p:sp>
        <p:nvSpPr>
          <p:cNvPr id="15" name="Text 13"/>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Se conserva la distinción entre señal interna, detección y conducta. Las cifras describen los archivos y tamaños analizados.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Ciencia de Datos · Sustentación</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Cierre</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Antes de confiar en que un agente rechazará…</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14</a:t>
            </a:r>
            <a:endParaRPr lang="en-US" sz="1100" dirty="0"/>
          </a:p>
        </p:txBody>
      </p:sp>
      <p:sp>
        <p:nvSpPr>
          <p:cNvPr id="6" name="Text 4"/>
          <p:cNvSpPr/>
          <p:nvPr/>
        </p:nvSpPr>
        <p:spPr>
          <a:xfrm>
            <a:off x="621792" y="2194560"/>
            <a:ext cx="10789920" cy="1737360"/>
          </a:xfrm>
          <a:prstGeom prst="rect">
            <a:avLst/>
          </a:prstGeom>
          <a:noFill/>
          <a:ln/>
        </p:spPr>
        <p:txBody>
          <a:bodyPr wrap="square" lIns="0" tIns="0" rIns="0" bIns="0" rtlCol="0" anchor="t"/>
          <a:lstStyle/>
          <a:p>
            <a:pPr marL="0" indent="0">
              <a:buNone/>
            </a:pPr>
            <a:r>
              <a:rPr lang="en-US" sz="4900" b="1" dirty="0">
                <a:solidFill>
                  <a:srgbClr val="9B743E"/>
                </a:solidFill>
                <a:latin typeface="Calibri" pitchFamily="34" charset="0"/>
                <a:ea typeface="Calibri" pitchFamily="34" charset="-122"/>
                <a:cs typeface="Calibri" pitchFamily="34" charset="-120"/>
              </a:rPr>
              <a:t>…conviene medir si</a:t>
            </a:r>
            <a:endParaRPr lang="en-US" sz="4900" dirty="0"/>
          </a:p>
          <a:p>
            <a:pPr marL="0" indent="0">
              <a:buNone/>
            </a:pPr>
            <a:r>
              <a:rPr lang="en-US" sz="4900" b="1" dirty="0">
                <a:solidFill>
                  <a:srgbClr val="9B743E"/>
                </a:solidFill>
                <a:latin typeface="Calibri" pitchFamily="34" charset="0"/>
                <a:ea typeface="Calibri" pitchFamily="34" charset="-122"/>
                <a:cs typeface="Calibri" pitchFamily="34" charset="-120"/>
              </a:rPr>
              <a:t>todavía distingue.</a:t>
            </a:r>
            <a:endParaRPr lang="en-US" sz="4900" dirty="0"/>
          </a:p>
        </p:txBody>
      </p:sp>
      <p:sp>
        <p:nvSpPr>
          <p:cNvPr id="7" name="Text 5"/>
          <p:cNvSpPr/>
          <p:nvPr/>
        </p:nvSpPr>
        <p:spPr>
          <a:xfrm>
            <a:off x="621792" y="4526280"/>
            <a:ext cx="10789920" cy="502920"/>
          </a:xfrm>
          <a:prstGeom prst="rect">
            <a:avLst/>
          </a:prstGeom>
          <a:noFill/>
          <a:ln/>
        </p:spPr>
        <p:txBody>
          <a:bodyPr wrap="square" lIns="0" tIns="0" rIns="0" bIns="0" rtlCol="0" anchor="t"/>
          <a:lstStyle/>
          <a:p>
            <a:pPr marL="0" indent="0">
              <a:buNone/>
            </a:pPr>
            <a:r>
              <a:rPr lang="en-US" sz="2500" dirty="0">
                <a:solidFill>
                  <a:srgbClr val="26282A"/>
                </a:solidFill>
                <a:latin typeface="Calibri" pitchFamily="34" charset="0"/>
                <a:ea typeface="Calibri" pitchFamily="34" charset="-122"/>
                <a:cs typeface="Calibri" pitchFamily="34" charset="-120"/>
              </a:rPr>
              <a:t>Señal interna   →   Evaluación   →   Conducta</a:t>
            </a:r>
            <a:endParaRPr lang="en-US" sz="2500" dirty="0"/>
          </a:p>
        </p:txBody>
      </p:sp>
      <p:sp>
        <p:nvSpPr>
          <p:cNvPr id="8" name="Text 6"/>
          <p:cNvSpPr/>
          <p:nvPr/>
        </p:nvSpPr>
        <p:spPr>
          <a:xfrm>
            <a:off x="621792" y="5431536"/>
            <a:ext cx="10789920" cy="457200"/>
          </a:xfrm>
          <a:prstGeom prst="rect">
            <a:avLst/>
          </a:prstGeom>
          <a:noFill/>
          <a:ln/>
        </p:spPr>
        <p:txBody>
          <a:bodyPr wrap="square" lIns="0" tIns="0" rIns="0" bIns="0" rtlCol="0" anchor="t"/>
          <a:lstStyle/>
          <a:p>
            <a:pPr marL="0" indent="0">
              <a:buNone/>
            </a:pPr>
            <a:r>
              <a:rPr lang="en-US" sz="2900" b="1" dirty="0">
                <a:solidFill>
                  <a:srgbClr val="26282A"/>
                </a:solidFill>
                <a:latin typeface="Calibri" pitchFamily="34" charset="0"/>
                <a:ea typeface="Calibri" pitchFamily="34" charset="-122"/>
                <a:cs typeface="Calibri" pitchFamily="34" charset="-120"/>
              </a:rPr>
              <a:t>Gracias</a:t>
            </a:r>
            <a:endParaRPr lang="en-US" sz="2900" dirty="0"/>
          </a:p>
        </p:txBody>
      </p:sp>
      <p:sp>
        <p:nvSpPr>
          <p:cNvPr id="9" name="Text 7"/>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Juan Esteban Espitia Leiva · Tutor: Julián Fernando Sánchez · Ciencia de Datos · Universidad Externado de Colombia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Apoyo para preguntas</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Apoyo 1</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Fuentes y trazabilidad</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15</a:t>
            </a:r>
            <a:endParaRPr lang="en-US" sz="1100" dirty="0"/>
          </a:p>
        </p:txBody>
      </p:sp>
      <p:sp>
        <p:nvSpPr>
          <p:cNvPr id="6" name="Text 4"/>
          <p:cNvSpPr/>
          <p:nvPr/>
        </p:nvSpPr>
        <p:spPr>
          <a:xfrm>
            <a:off x="621792" y="2011680"/>
            <a:ext cx="10789920" cy="457200"/>
          </a:xfrm>
          <a:prstGeom prst="rect">
            <a:avLst/>
          </a:prstGeom>
          <a:noFill/>
          <a:ln/>
        </p:spPr>
        <p:txBody>
          <a:bodyPr wrap="square" lIns="0" tIns="0" rIns="0" bIns="0" rtlCol="0" anchor="t"/>
          <a:lstStyle/>
          <a:p>
            <a:pPr marL="0" indent="0">
              <a:buNone/>
            </a:pPr>
            <a:r>
              <a:rPr lang="en-US" sz="2600" b="1" dirty="0">
                <a:solidFill>
                  <a:srgbClr val="26282A"/>
                </a:solidFill>
                <a:latin typeface="Calibri" pitchFamily="34" charset="0"/>
                <a:ea typeface="Calibri" pitchFamily="34" charset="-122"/>
                <a:cs typeface="Calibri" pitchFamily="34" charset="-120"/>
              </a:rPr>
              <a:t>El caso de contexto</a:t>
            </a:r>
            <a:endParaRPr lang="en-US" sz="2600" dirty="0"/>
          </a:p>
        </p:txBody>
      </p:sp>
      <p:sp>
        <p:nvSpPr>
          <p:cNvPr id="7" name="Text 5"/>
          <p:cNvSpPr/>
          <p:nvPr/>
        </p:nvSpPr>
        <p:spPr>
          <a:xfrm>
            <a:off x="621792" y="2697480"/>
            <a:ext cx="10789920" cy="502920"/>
          </a:xfrm>
          <a:prstGeom prst="rect">
            <a:avLst/>
          </a:prstGeom>
          <a:noFill/>
          <a:ln/>
        </p:spPr>
        <p:txBody>
          <a:bodyPr wrap="square" lIns="0" tIns="0" rIns="0" bIns="0" rtlCol="0" anchor="t"/>
          <a:lstStyle/>
          <a:p>
            <a:pPr marL="0" indent="0">
              <a:buNone/>
            </a:pPr>
            <a:r>
              <a:rPr lang="en-US" sz="2100" u="sng" dirty="0">
                <a:solidFill>
                  <a:srgbClr val="416879"/>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Hugging Face · informe técnico del 27 de julio de 2026</a:t>
            </a:r>
            <a:endParaRPr lang="en-US" sz="2100" dirty="0"/>
          </a:p>
        </p:txBody>
      </p:sp>
      <p:sp>
        <p:nvSpPr>
          <p:cNvPr id="8" name="Text 6"/>
          <p:cNvSpPr/>
          <p:nvPr/>
        </p:nvSpPr>
        <p:spPr>
          <a:xfrm>
            <a:off x="621792" y="3310128"/>
            <a:ext cx="10789920" cy="502920"/>
          </a:xfrm>
          <a:prstGeom prst="rect">
            <a:avLst/>
          </a:prstGeom>
          <a:noFill/>
          <a:ln/>
        </p:spPr>
        <p:txBody>
          <a:bodyPr wrap="square" lIns="0" tIns="0" rIns="0" bIns="0" rtlCol="0" anchor="t"/>
          <a:lstStyle/>
          <a:p>
            <a:pPr marL="0" indent="0">
              <a:buNone/>
            </a:pPr>
            <a:r>
              <a:rPr lang="en-US" sz="2100" u="sng" dirty="0">
                <a:solidFill>
                  <a:srgbClr val="416879"/>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OpenAI · informe del incidente del 26 de agosto de 2026</a:t>
            </a:r>
            <a:endParaRPr lang="en-US" sz="2100" dirty="0"/>
          </a:p>
        </p:txBody>
      </p:sp>
      <p:sp>
        <p:nvSpPr>
          <p:cNvPr id="9" name="Shape 7"/>
          <p:cNvSpPr/>
          <p:nvPr/>
        </p:nvSpPr>
        <p:spPr>
          <a:xfrm>
            <a:off x="621792" y="4023360"/>
            <a:ext cx="10948111" cy="91"/>
          </a:xfrm>
          <a:prstGeom prst="line">
            <a:avLst/>
          </a:prstGeom>
          <a:noFill/>
          <a:ln w="12700">
            <a:solidFill>
              <a:srgbClr val="D9DDE0"/>
            </a:solidFill>
            <a:prstDash val="solid"/>
          </a:ln>
        </p:spPr>
      </p:sp>
      <p:sp>
        <p:nvSpPr>
          <p:cNvPr id="10" name="Text 8"/>
          <p:cNvSpPr/>
          <p:nvPr/>
        </p:nvSpPr>
        <p:spPr>
          <a:xfrm>
            <a:off x="621792" y="4315968"/>
            <a:ext cx="10789920" cy="457200"/>
          </a:xfrm>
          <a:prstGeom prst="rect">
            <a:avLst/>
          </a:prstGeom>
          <a:noFill/>
          <a:ln/>
        </p:spPr>
        <p:txBody>
          <a:bodyPr wrap="square" lIns="0" tIns="0" rIns="0" bIns="0" rtlCol="0" anchor="t"/>
          <a:lstStyle/>
          <a:p>
            <a:pPr marL="0" indent="0">
              <a:buNone/>
            </a:pPr>
            <a:r>
              <a:rPr lang="en-US" sz="2600" b="1" dirty="0">
                <a:solidFill>
                  <a:srgbClr val="26282A"/>
                </a:solidFill>
                <a:latin typeface="Calibri" pitchFamily="34" charset="0"/>
                <a:ea typeface="Calibri" pitchFamily="34" charset="-122"/>
                <a:cs typeface="Calibri" pitchFamily="34" charset="-120"/>
              </a:rPr>
              <a:t>Los datos del estudio</a:t>
            </a:r>
            <a:endParaRPr lang="en-US" sz="2600" dirty="0"/>
          </a:p>
        </p:txBody>
      </p:sp>
      <p:sp>
        <p:nvSpPr>
          <p:cNvPr id="11" name="Text 9"/>
          <p:cNvSpPr/>
          <p:nvPr/>
        </p:nvSpPr>
        <p:spPr>
          <a:xfrm>
            <a:off x="621792" y="4974336"/>
            <a:ext cx="10789920" cy="1005840"/>
          </a:xfrm>
          <a:prstGeom prst="rect">
            <a:avLst/>
          </a:prstGeom>
          <a:noFill/>
          <a:ln/>
        </p:spPr>
        <p:txBody>
          <a:bodyPr wrap="square" lIns="0" tIns="0" rIns="0" bIns="0" rtlCol="0" anchor="t"/>
          <a:lstStyle/>
          <a:p>
            <a:pPr marL="0" indent="0">
              <a:buNone/>
            </a:pPr>
            <a:r>
              <a:rPr lang="en-US" sz="2100" dirty="0">
                <a:solidFill>
                  <a:srgbClr val="50565C"/>
                </a:solidFill>
                <a:latin typeface="Calibri" pitchFamily="34" charset="0"/>
                <a:ea typeface="Calibri" pitchFamily="34" charset="-122"/>
                <a:cs typeface="Calibri" pitchFamily="34" charset="-120"/>
              </a:rPr>
              <a:t>Llama V3: 42 pares. Mistral y Qwen V2: 96 por modelo.</a:t>
            </a:r>
            <a:endParaRPr lang="en-US" sz="2100" dirty="0"/>
          </a:p>
          <a:p>
            <a:pPr marL="0" indent="0">
              <a:buNone/>
            </a:pPr>
            <a:r>
              <a:rPr lang="en-US" sz="2100" dirty="0">
                <a:solidFill>
                  <a:srgbClr val="50565C"/>
                </a:solidFill>
                <a:latin typeface="Calibri" pitchFamily="34" charset="0"/>
                <a:ea typeface="Calibri" pitchFamily="34" charset="-122"/>
                <a:cs typeface="Calibri" pitchFamily="34" charset="-120"/>
              </a:rPr>
              <a:t>Métricas y archivos de origen registrados en datos_ligera.json.</a:t>
            </a:r>
            <a:endParaRPr lang="en-US" sz="2100" dirty="0"/>
          </a:p>
          <a:p>
            <a:pPr marL="0" indent="0">
              <a:buNone/>
            </a:pPr>
            <a:r>
              <a:rPr lang="en-US" sz="2100" dirty="0">
                <a:solidFill>
                  <a:srgbClr val="50565C"/>
                </a:solidFill>
                <a:latin typeface="Calibri" pitchFamily="34" charset="0"/>
                <a:ea typeface="Calibri" pitchFamily="34" charset="-122"/>
                <a:cs typeface="Calibri" pitchFamily="34" charset="-120"/>
              </a:rPr>
              <a:t>El detalle estadístico está en la presentación completa.</a:t>
            </a:r>
            <a:endParaRPr lang="en-US" sz="2100" dirty="0"/>
          </a:p>
        </p:txBody>
      </p:sp>
      <p:sp>
        <p:nvSpPr>
          <p:cNvPr id="12" name="Text 10"/>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Fuentes primarias del contexto y artefactos verificables del proyecto; las referencias completas de la tesis están en el documento.</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56032"/>
            <a:ext cx="6400800" cy="256032"/>
          </a:xfrm>
          <a:prstGeom prst="rect">
            <a:avLst/>
          </a:prstGeom>
          <a:noFill/>
          <a:ln/>
        </p:spPr>
        <p:txBody>
          <a:bodyPr wrap="square" lIns="0" tIns="0" rIns="0" bIns="0" rtlCol="0" anchor="t"/>
          <a:lstStyle/>
          <a:p>
            <a:pPr marL="0" indent="0">
              <a:buNone/>
            </a:pPr>
            <a:r>
              <a:rPr lang="en-US" sz="1200" b="1" dirty="0">
                <a:solidFill>
                  <a:srgbClr val="70777D"/>
                </a:solidFill>
                <a:latin typeface="Calibri" pitchFamily="34" charset="0"/>
                <a:ea typeface="Calibri" pitchFamily="34" charset="-122"/>
                <a:cs typeface="Calibri" pitchFamily="34" charset="-120"/>
              </a:rPr>
              <a:t>Apoyo para preguntas</a:t>
            </a:r>
            <a:endParaRPr lang="en-US" sz="1200" dirty="0"/>
          </a:p>
        </p:txBody>
      </p:sp>
      <p:sp>
        <p:nvSpPr>
          <p:cNvPr id="3" name="Text 1"/>
          <p:cNvSpPr/>
          <p:nvPr/>
        </p:nvSpPr>
        <p:spPr>
          <a:xfrm>
            <a:off x="8278063" y="256032"/>
            <a:ext cx="3291840" cy="256032"/>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Apoyo 2</a:t>
            </a:r>
            <a:endParaRPr lang="en-US" sz="1100" dirty="0"/>
          </a:p>
        </p:txBody>
      </p:sp>
      <p:sp>
        <p:nvSpPr>
          <p:cNvPr id="4" name="Text 2"/>
          <p:cNvSpPr/>
          <p:nvPr/>
        </p:nvSpPr>
        <p:spPr>
          <a:xfrm>
            <a:off x="621792" y="822960"/>
            <a:ext cx="10948111" cy="914400"/>
          </a:xfrm>
          <a:prstGeom prst="rect">
            <a:avLst/>
          </a:prstGeom>
          <a:noFill/>
          <a:ln/>
        </p:spPr>
        <p:txBody>
          <a:bodyPr wrap="square" lIns="0" tIns="0" rIns="0" bIns="0" rtlCol="0" anchor="t"/>
          <a:lstStyle/>
          <a:p>
            <a:pPr marL="0" indent="0">
              <a:buNone/>
            </a:pPr>
            <a:r>
              <a:rPr lang="en-US" sz="3200" b="1" dirty="0">
                <a:solidFill>
                  <a:srgbClr val="26282A"/>
                </a:solidFill>
                <a:latin typeface="Calibri" pitchFamily="34" charset="0"/>
                <a:ea typeface="Calibri" pitchFamily="34" charset="-122"/>
                <a:cs typeface="Calibri" pitchFamily="34" charset="-120"/>
              </a:rPr>
              <a:t>Declarar autorización no permite comprobarla</a:t>
            </a:r>
            <a:endParaRPr lang="en-US" sz="3200" dirty="0"/>
          </a:p>
        </p:txBody>
      </p:sp>
      <p:sp>
        <p:nvSpPr>
          <p:cNvPr id="5" name="Text 3"/>
          <p:cNvSpPr/>
          <p:nvPr/>
        </p:nvSpPr>
        <p:spPr>
          <a:xfrm>
            <a:off x="11112703" y="6364224"/>
            <a:ext cx="457200" cy="228600"/>
          </a:xfrm>
          <a:prstGeom prst="rect">
            <a:avLst/>
          </a:prstGeom>
          <a:noFill/>
          <a:ln/>
        </p:spPr>
        <p:txBody>
          <a:bodyPr wrap="square" lIns="0" tIns="0" rIns="0" bIns="0" rtlCol="0" anchor="t"/>
          <a:lstStyle/>
          <a:p>
            <a:pPr marL="0" indent="0" algn="r">
              <a:buNone/>
            </a:pPr>
            <a:r>
              <a:rPr lang="en-US" sz="1100" dirty="0">
                <a:solidFill>
                  <a:srgbClr val="70777D"/>
                </a:solidFill>
                <a:latin typeface="Calibri" pitchFamily="34" charset="0"/>
                <a:ea typeface="Calibri" pitchFamily="34" charset="-122"/>
                <a:cs typeface="Calibri" pitchFamily="34" charset="-120"/>
              </a:rPr>
              <a:t>16</a:t>
            </a:r>
            <a:endParaRPr lang="en-US" sz="1100" dirty="0"/>
          </a:p>
        </p:txBody>
      </p:sp>
      <p:sp>
        <p:nvSpPr>
          <p:cNvPr id="6" name="Shape 4"/>
          <p:cNvSpPr/>
          <p:nvPr/>
        </p:nvSpPr>
        <p:spPr>
          <a:xfrm>
            <a:off x="621792" y="1920240"/>
            <a:ext cx="10948111" cy="91"/>
          </a:xfrm>
          <a:prstGeom prst="line">
            <a:avLst/>
          </a:prstGeom>
          <a:noFill/>
          <a:ln w="12700">
            <a:solidFill>
              <a:srgbClr val="D9DDE0"/>
            </a:solidFill>
            <a:prstDash val="solid"/>
          </a:ln>
        </p:spPr>
      </p:sp>
      <p:sp>
        <p:nvSpPr>
          <p:cNvPr id="7" name="Text 5"/>
          <p:cNvSpPr/>
          <p:nvPr/>
        </p:nvSpPr>
        <p:spPr>
          <a:xfrm>
            <a:off x="621792" y="2011680"/>
            <a:ext cx="3474720" cy="548640"/>
          </a:xfrm>
          <a:prstGeom prst="rect">
            <a:avLst/>
          </a:prstGeom>
          <a:noFill/>
          <a:ln/>
        </p:spPr>
        <p:txBody>
          <a:bodyPr wrap="square" lIns="0" tIns="0" rIns="0" bIns="0" rtlCol="0" anchor="t"/>
          <a:lstStyle/>
          <a:p>
            <a:pPr marL="0" indent="0">
              <a:buNone/>
            </a:pPr>
            <a:r>
              <a:rPr lang="en-US" sz="2300" b="1" dirty="0">
                <a:solidFill>
                  <a:srgbClr val="26282A"/>
                </a:solidFill>
                <a:latin typeface="Calibri" pitchFamily="34" charset="0"/>
                <a:ea typeface="Calibri" pitchFamily="34" charset="-122"/>
                <a:cs typeface="Calibri" pitchFamily="34" charset="-120"/>
              </a:rPr>
              <a:t>Qué recibe el modelo</a:t>
            </a:r>
            <a:endParaRPr lang="en-US" sz="2300" dirty="0"/>
          </a:p>
        </p:txBody>
      </p:sp>
      <p:sp>
        <p:nvSpPr>
          <p:cNvPr id="8" name="Text 6"/>
          <p:cNvSpPr/>
          <p:nvPr/>
        </p:nvSpPr>
        <p:spPr>
          <a:xfrm>
            <a:off x="4480560" y="2011680"/>
            <a:ext cx="6903720" cy="731520"/>
          </a:xfrm>
          <a:prstGeom prst="rect">
            <a:avLst/>
          </a:prstGeom>
          <a:noFill/>
          <a:ln/>
        </p:spPr>
        <p:txBody>
          <a:bodyPr wrap="square" lIns="0" tIns="0" rIns="0" bIns="0" rtlCol="0" anchor="t"/>
          <a:lstStyle/>
          <a:p>
            <a:pPr marL="0" indent="0">
              <a:buNone/>
            </a:pPr>
            <a:r>
              <a:rPr lang="en-US" sz="2200" dirty="0">
                <a:solidFill>
                  <a:srgbClr val="50565C"/>
                </a:solidFill>
                <a:latin typeface="Calibri" pitchFamily="34" charset="0"/>
                <a:ea typeface="Calibri" pitchFamily="34" charset="-122"/>
                <a:cs typeface="Calibri" pitchFamily="34" charset="-120"/>
              </a:rPr>
              <a:t>Un texto, un mensaje de sistema y un catálogo de herramientas.</a:t>
            </a:r>
            <a:endParaRPr lang="en-US" sz="2200" dirty="0"/>
          </a:p>
        </p:txBody>
      </p:sp>
      <p:sp>
        <p:nvSpPr>
          <p:cNvPr id="9" name="Shape 7"/>
          <p:cNvSpPr/>
          <p:nvPr/>
        </p:nvSpPr>
        <p:spPr>
          <a:xfrm>
            <a:off x="621792" y="2862072"/>
            <a:ext cx="10948111" cy="91"/>
          </a:xfrm>
          <a:prstGeom prst="line">
            <a:avLst/>
          </a:prstGeom>
          <a:noFill/>
          <a:ln w="12700">
            <a:solidFill>
              <a:srgbClr val="D9DDE0"/>
            </a:solidFill>
            <a:prstDash val="solid"/>
          </a:ln>
        </p:spPr>
      </p:sp>
      <p:sp>
        <p:nvSpPr>
          <p:cNvPr id="10" name="Text 8"/>
          <p:cNvSpPr/>
          <p:nvPr/>
        </p:nvSpPr>
        <p:spPr>
          <a:xfrm>
            <a:off x="621792" y="2953512"/>
            <a:ext cx="3474720" cy="548640"/>
          </a:xfrm>
          <a:prstGeom prst="rect">
            <a:avLst/>
          </a:prstGeom>
          <a:noFill/>
          <a:ln/>
        </p:spPr>
        <p:txBody>
          <a:bodyPr wrap="square" lIns="0" tIns="0" rIns="0" bIns="0" rtlCol="0" anchor="t"/>
          <a:lstStyle/>
          <a:p>
            <a:pPr marL="0" indent="0">
              <a:buNone/>
            </a:pPr>
            <a:r>
              <a:rPr lang="en-US" sz="2300" b="1" dirty="0">
                <a:solidFill>
                  <a:srgbClr val="26282A"/>
                </a:solidFill>
                <a:latin typeface="Calibri" pitchFamily="34" charset="0"/>
                <a:ea typeface="Calibri" pitchFamily="34" charset="-122"/>
                <a:cs typeface="Calibri" pitchFamily="34" charset="-120"/>
              </a:rPr>
              <a:t>Qué significa la etiqueta</a:t>
            </a:r>
            <a:endParaRPr lang="en-US" sz="2300" dirty="0"/>
          </a:p>
        </p:txBody>
      </p:sp>
      <p:sp>
        <p:nvSpPr>
          <p:cNvPr id="11" name="Text 9"/>
          <p:cNvSpPr/>
          <p:nvPr/>
        </p:nvSpPr>
        <p:spPr>
          <a:xfrm>
            <a:off x="4480560" y="2953512"/>
            <a:ext cx="6903720" cy="731520"/>
          </a:xfrm>
          <a:prstGeom prst="rect">
            <a:avLst/>
          </a:prstGeom>
          <a:noFill/>
          <a:ln/>
        </p:spPr>
        <p:txBody>
          <a:bodyPr wrap="square" lIns="0" tIns="0" rIns="0" bIns="0" rtlCol="0" anchor="t"/>
          <a:lstStyle/>
          <a:p>
            <a:pPr marL="0" indent="0">
              <a:buNone/>
            </a:pPr>
            <a:r>
              <a:rPr lang="en-US" sz="2200" dirty="0">
                <a:solidFill>
                  <a:srgbClr val="50565C"/>
                </a:solidFill>
                <a:latin typeface="Calibri" pitchFamily="34" charset="0"/>
                <a:ea typeface="Calibri" pitchFamily="34" charset="-122"/>
                <a:cs typeface="Calibri" pitchFamily="34" charset="-120"/>
              </a:rPr>
              <a:t>Daño atribuido a la solicitud según el escenario descrito en el corpus.</a:t>
            </a:r>
            <a:endParaRPr lang="en-US" sz="2200" dirty="0"/>
          </a:p>
        </p:txBody>
      </p:sp>
      <p:sp>
        <p:nvSpPr>
          <p:cNvPr id="12" name="Shape 10"/>
          <p:cNvSpPr/>
          <p:nvPr/>
        </p:nvSpPr>
        <p:spPr>
          <a:xfrm>
            <a:off x="621792" y="3803904"/>
            <a:ext cx="10948111" cy="91"/>
          </a:xfrm>
          <a:prstGeom prst="line">
            <a:avLst/>
          </a:prstGeom>
          <a:noFill/>
          <a:ln w="12700">
            <a:solidFill>
              <a:srgbClr val="D9DDE0"/>
            </a:solidFill>
            <a:prstDash val="solid"/>
          </a:ln>
        </p:spPr>
      </p:sp>
      <p:sp>
        <p:nvSpPr>
          <p:cNvPr id="13" name="Text 11"/>
          <p:cNvSpPr/>
          <p:nvPr/>
        </p:nvSpPr>
        <p:spPr>
          <a:xfrm>
            <a:off x="621792" y="3895344"/>
            <a:ext cx="3474720" cy="548640"/>
          </a:xfrm>
          <a:prstGeom prst="rect">
            <a:avLst/>
          </a:prstGeom>
          <a:noFill/>
          <a:ln/>
        </p:spPr>
        <p:txBody>
          <a:bodyPr wrap="square" lIns="0" tIns="0" rIns="0" bIns="0" rtlCol="0" anchor="t"/>
          <a:lstStyle/>
          <a:p>
            <a:pPr marL="0" indent="0">
              <a:buNone/>
            </a:pPr>
            <a:r>
              <a:rPr lang="en-US" sz="2300" b="1" dirty="0">
                <a:solidFill>
                  <a:srgbClr val="26282A"/>
                </a:solidFill>
                <a:latin typeface="Calibri" pitchFamily="34" charset="0"/>
                <a:ea typeface="Calibri" pitchFamily="34" charset="-122"/>
                <a:cs typeface="Calibri" pitchFamily="34" charset="-120"/>
              </a:rPr>
              <a:t>Qué queda pendiente</a:t>
            </a:r>
            <a:endParaRPr lang="en-US" sz="2300" dirty="0"/>
          </a:p>
        </p:txBody>
      </p:sp>
      <p:sp>
        <p:nvSpPr>
          <p:cNvPr id="14" name="Text 12"/>
          <p:cNvSpPr/>
          <p:nvPr/>
        </p:nvSpPr>
        <p:spPr>
          <a:xfrm>
            <a:off x="4480560" y="3895344"/>
            <a:ext cx="6903720" cy="731520"/>
          </a:xfrm>
          <a:prstGeom prst="rect">
            <a:avLst/>
          </a:prstGeom>
          <a:noFill/>
          <a:ln/>
        </p:spPr>
        <p:txBody>
          <a:bodyPr wrap="square" lIns="0" tIns="0" rIns="0" bIns="0" rtlCol="0" anchor="t"/>
          <a:lstStyle/>
          <a:p>
            <a:pPr marL="0" indent="0">
              <a:buNone/>
            </a:pPr>
            <a:r>
              <a:rPr lang="en-US" sz="2200" dirty="0">
                <a:solidFill>
                  <a:srgbClr val="50565C"/>
                </a:solidFill>
                <a:latin typeface="Calibri" pitchFamily="34" charset="0"/>
                <a:ea typeface="Calibri" pitchFamily="34" charset="-122"/>
                <a:cs typeface="Calibri" pitchFamily="34" charset="-120"/>
              </a:rPr>
              <a:t>Revisar casos ambiguos, con anotadores independientes y análisis de sensibilidad.</a:t>
            </a:r>
            <a:endParaRPr lang="en-US" sz="2200" dirty="0"/>
          </a:p>
        </p:txBody>
      </p:sp>
      <p:sp>
        <p:nvSpPr>
          <p:cNvPr id="15" name="Text 13"/>
          <p:cNvSpPr/>
          <p:nvPr/>
        </p:nvSpPr>
        <p:spPr>
          <a:xfrm>
            <a:off x="621792" y="5047488"/>
            <a:ext cx="10789920" cy="777240"/>
          </a:xfrm>
          <a:prstGeom prst="rect">
            <a:avLst/>
          </a:prstGeom>
          <a:noFill/>
          <a:ln/>
        </p:spPr>
        <p:txBody>
          <a:bodyPr wrap="square" lIns="0" tIns="0" rIns="0" bIns="0" rtlCol="0" anchor="t"/>
          <a:lstStyle/>
          <a:p>
            <a:pPr marL="0" indent="0">
              <a:buNone/>
            </a:pPr>
            <a:r>
              <a:rPr lang="en-US" sz="2300" b="1" dirty="0">
                <a:solidFill>
                  <a:srgbClr val="26282A"/>
                </a:solidFill>
                <a:latin typeface="Calibri" pitchFamily="34" charset="0"/>
                <a:ea typeface="Calibri" pitchFamily="34" charset="-122"/>
                <a:cs typeface="Calibri" pitchFamily="34" charset="-120"/>
              </a:rPr>
              <a:t>La apariencia legítima describe la formulación del miembro dañino etiquetado; su contraparte sigue siendo benigna.</a:t>
            </a:r>
            <a:endParaRPr lang="en-US" sz="2300" dirty="0"/>
          </a:p>
        </p:txBody>
      </p:sp>
      <p:sp>
        <p:nvSpPr>
          <p:cNvPr id="16" name="Text 14"/>
          <p:cNvSpPr/>
          <p:nvPr/>
        </p:nvSpPr>
        <p:spPr>
          <a:xfrm>
            <a:off x="621792" y="5961888"/>
            <a:ext cx="10789920" cy="320040"/>
          </a:xfrm>
          <a:prstGeom prst="rect">
            <a:avLst/>
          </a:prstGeom>
          <a:noFill/>
          <a:ln/>
        </p:spPr>
        <p:txBody>
          <a:bodyPr wrap="square" lIns="0" tIns="0" rIns="0" bIns="0" rtlCol="0" anchor="t"/>
          <a:lstStyle/>
          <a:p>
            <a:pPr marL="0" indent="0">
              <a:buNone/>
            </a:pPr>
            <a:r>
              <a:rPr lang="en-US" sz="1700" dirty="0">
                <a:solidFill>
                  <a:srgbClr val="50565C"/>
                </a:solidFill>
                <a:latin typeface="Calibri" pitchFamily="34" charset="0"/>
                <a:ea typeface="Calibri" pitchFamily="34" charset="-122"/>
                <a:cs typeface="Calibri" pitchFamily="34" charset="-120"/>
              </a:rPr>
              <a:t>El ejemplo principal usa fraud_06. Las etiquetas originales no se han recalculado.</a:t>
            </a:r>
            <a:endParaRPr lang="en-US" sz="1700" dirty="0"/>
          </a:p>
        </p:txBody>
      </p:sp>
      <p:sp>
        <p:nvSpPr>
          <p:cNvPr id="17" name="Text 15"/>
          <p:cNvSpPr/>
          <p:nvPr/>
        </p:nvSpPr>
        <p:spPr>
          <a:xfrm>
            <a:off x="621792" y="6318504"/>
            <a:ext cx="10536631" cy="274320"/>
          </a:xfrm>
          <a:prstGeom prst="rect">
            <a:avLst/>
          </a:prstGeom>
          <a:noFill/>
          <a:ln/>
        </p:spPr>
        <p:txBody>
          <a:bodyPr wrap="square" lIns="0" tIns="0" rIns="0" bIns="0" rtlCol="0" anchor="t"/>
          <a:lstStyle/>
          <a:p>
            <a:pPr marL="0" indent="0">
              <a:buNone/>
            </a:pPr>
            <a:r>
              <a:rPr lang="en-US" sz="1050" dirty="0">
                <a:solidFill>
                  <a:srgbClr val="70777D"/>
                </a:solidFill>
                <a:latin typeface="Calibri" pitchFamily="34" charset="0"/>
                <a:ea typeface="Calibri" pitchFamily="34" charset="-122"/>
                <a:cs typeface="Calibri" pitchFamily="34" charset="-120"/>
              </a:rPr>
              <a:t>Detalle de fraud_01 y su ambigüedad: docs/sustentacion/nota_autorizacion_etiquetas.md y anexo R13 de la versión completa.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4253</Words>
  <Application>Microsoft Office PowerPoint</Application>
  <PresentationFormat>Panorámica</PresentationFormat>
  <Paragraphs>291</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Externado de Colombia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Transformación de la dirección de rechazo · versión ligera</dc:title>
  <dc:subject>Sustentación en lenguaje claro, con matemática esencial y resultados principales</dc:subject>
  <dc:creator>Juan Esteban Espitia Leiva</dc:creator>
  <cp:lastModifiedBy>JUAN ESPITIA</cp:lastModifiedBy>
  <cp:revision>1</cp:revision>
  <dcterms:created xsi:type="dcterms:W3CDTF">2026-10-15T19:23:32Z</dcterms:created>
  <dcterms:modified xsi:type="dcterms:W3CDTF">2026-10-15T19:23:38Z</dcterms:modified>
</cp:coreProperties>
</file>